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3"/>
    <p:sldId id="400" r:id="rId4"/>
    <p:sldId id="399" r:id="rId5"/>
    <p:sldId id="404" r:id="rId6"/>
    <p:sldId id="405" r:id="rId7"/>
    <p:sldId id="401" r:id="rId8"/>
    <p:sldId id="40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7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5523" y="501066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第八讲：</a:t>
            </a:r>
            <a:r>
              <a:rPr lang="en-US" altLang="zh-CN" sz="2800" dirty="0"/>
              <a:t> </a:t>
            </a:r>
            <a:r>
              <a:rPr lang="zh-CN" altLang="en-US" sz="2800" dirty="0"/>
              <a:t>信号量的使用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IPC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9100820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1135380" y="2191385"/>
            <a:ext cx="8284845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zh-CN"/>
              <a:t>在嵌入式系统中运行的代码主要包括线程和</a:t>
            </a:r>
            <a:r>
              <a:rPr lang="en-US" altLang="zh-CN"/>
              <a:t>ISR</a:t>
            </a:r>
            <a:r>
              <a:rPr lang="zh-CN" altLang="en-US"/>
              <a:t>，在它们的运行过程中，它们的运行步骤有时需要</a:t>
            </a:r>
            <a:r>
              <a:rPr lang="zh-CN" altLang="en-US" b="1"/>
              <a:t>同步</a:t>
            </a:r>
            <a:r>
              <a:rPr lang="zh-CN" altLang="en-US"/>
              <a:t>（按照预定的先后次序运行），它们访问的资源有时需要</a:t>
            </a:r>
            <a:r>
              <a:rPr lang="zh-CN" altLang="en-US" b="1"/>
              <a:t>互斥</a:t>
            </a:r>
            <a:r>
              <a:rPr lang="zh-CN" altLang="en-US"/>
              <a:t>（一个时刻只允许一个线程访问资源），它们之间有时也要彼此</a:t>
            </a:r>
            <a:r>
              <a:rPr lang="zh-CN" altLang="en-US" b="1"/>
              <a:t>交换数据</a:t>
            </a:r>
            <a:r>
              <a:rPr lang="zh-CN" altLang="en-US"/>
              <a:t>。这些需求，有的是因为应用需求，有的是多线程编程模型带来的需求。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操作系统必须提供相应的机制来完成这些功能，我们把这些机制统称为进（线）程间通信（</a:t>
            </a:r>
            <a:r>
              <a:rPr lang="en-US" altLang="zh-CN"/>
              <a:t>Internal Process Communication   IPC</a:t>
            </a:r>
            <a:r>
              <a:rPr lang="zh-CN" altLang="en-US"/>
              <a:t>），</a:t>
            </a:r>
            <a:r>
              <a:rPr lang="en-US" altLang="zh-CN"/>
              <a:t>RT-Thread</a:t>
            </a:r>
            <a:r>
              <a:rPr lang="zh-CN" altLang="en-US"/>
              <a:t>中的</a:t>
            </a:r>
            <a:r>
              <a:rPr lang="en-US" altLang="zh-CN"/>
              <a:t>IPC</a:t>
            </a:r>
            <a:r>
              <a:rPr lang="zh-CN" altLang="en-US"/>
              <a:t>机制包括信号量、互斥量、事件、邮箱、消息队列</a:t>
            </a:r>
            <a:endParaRPr lang="zh-CN" altLang="en-US"/>
          </a:p>
          <a:p>
            <a:endParaRPr lang="zh-CN" altLang="en-US" sz="2000"/>
          </a:p>
          <a:p>
            <a:r>
              <a:rPr lang="zh-CN" altLang="en-US"/>
              <a:t>         通过</a:t>
            </a:r>
            <a:r>
              <a:rPr lang="en-US" altLang="zh-CN"/>
              <a:t>IPC</a:t>
            </a:r>
            <a:r>
              <a:rPr lang="zh-CN" altLang="en-US"/>
              <a:t>机制，我们可以协调多个线程（包括</a:t>
            </a:r>
            <a:r>
              <a:rPr lang="en-US" altLang="zh-CN"/>
              <a:t>ISR</a:t>
            </a:r>
            <a:r>
              <a:rPr lang="zh-CN" altLang="en-US"/>
              <a:t>）</a:t>
            </a:r>
            <a:r>
              <a:rPr lang="en-US" altLang="zh-CN"/>
              <a:t>“</a:t>
            </a:r>
            <a:r>
              <a:rPr lang="zh-CN" altLang="en-US"/>
              <a:t>默契</a:t>
            </a:r>
            <a:r>
              <a:rPr lang="en-US" altLang="zh-CN"/>
              <a:t>”</a:t>
            </a:r>
            <a:r>
              <a:rPr lang="zh-CN" altLang="en-US"/>
              <a:t>的工作，从而共同完成一个整项工作。</a:t>
            </a:r>
            <a:endParaRPr lang="zh-CN" altLang="en-US" sz="2000"/>
          </a:p>
          <a:p>
            <a:r>
              <a:t>     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例说信号量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757680"/>
            <a:ext cx="877316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/>
          <a:p>
            <a:r>
              <a:t>        以生活中的停车场为例来理解信号量的概念：</a:t>
            </a:r>
          </a:p>
          <a:p/>
          <a:p>
            <a:r>
              <a:t>①当停车场空的时候， 停车场的管理员发现有很多空车位， 此时会让外面的车陆续进入停车场获得停车位；</a:t>
            </a:r>
          </a:p>
          <a:p/>
          <a:p>
            <a:r>
              <a:t>②当停车场的车位满的时候， 管理员发现已经没有空车位， 将禁止外面的车进入停车场， 车辆在外排队等候； </a:t>
            </a:r>
          </a:p>
          <a:p/>
          <a:p>
            <a:r>
              <a:t>③当停车场内有车离开时， 管理员发现有空的车位让出， 允许外面的车进入停车场； 待空车位填满后， 又禁止外部车辆进入。</a:t>
            </a:r>
          </a:p>
          <a:p/>
          <a:p>
            <a:r>
              <a:t>         在此例子中</a:t>
            </a:r>
            <a:r>
              <a:rPr lang="zh-CN"/>
              <a:t>，</a:t>
            </a:r>
            <a:r>
              <a:t>管理员就相当于信号量</a:t>
            </a:r>
            <a:r>
              <a:rPr lang="zh-CN"/>
              <a:t>；</a:t>
            </a:r>
            <a:r>
              <a:t>管理员手中空车位的个数就是信号量的值 ；停车位相当于公共资源 ， 车辆相当于线程。 车辆通过获得管理员的允许取得停车位， 就类似于线程通过获得信号量访问公共资源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信号量工作机制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信号量是一种轻型的用于解决线程间同步问题的内核对象，线程可以获取或释放它，从而达到同步或互斥的目的</a:t>
            </a:r>
            <a:r>
              <a:rPr lang="zh-CN"/>
              <a:t>。</a:t>
            </a:r>
            <a:endParaRPr lang="zh-CN"/>
          </a:p>
          <a:p/>
        </p:txBody>
      </p:sp>
      <p:pic>
        <p:nvPicPr>
          <p:cNvPr id="3" name="图片 2" descr="]2PG8TV(SUK$X1{2DDU1A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0" y="2580005"/>
            <a:ext cx="4471670" cy="20504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870" y="4792345"/>
            <a:ext cx="85096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信号量工作示意图如上图所示，每个信号量对象都有一个信号量值和一个线程等待队列，信号量的值对应信号量对象的实例数目（资源数目），假如信号量值</a:t>
            </a:r>
            <a:r>
              <a:rPr lang="en-US" altLang="zh-CN"/>
              <a:t>N</a:t>
            </a:r>
            <a:r>
              <a:rPr lang="zh-CN" altLang="en-US"/>
              <a:t>，则表示共有 </a:t>
            </a:r>
            <a:r>
              <a:rPr lang="en-US" altLang="zh-CN"/>
              <a:t>N</a:t>
            </a:r>
            <a:r>
              <a:rPr lang="zh-CN" altLang="en-US"/>
              <a:t> 个信号量实例（资源）可以被使用，当信号量实例数目为零时，再请求该信号量的线程就会被挂起在该信号量的等待队列上，等待可用的信号量实例（资源）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中，信号量控制块是操作系统用于管理信号量的一个数据结构</a:t>
            </a:r>
            <a:r>
              <a:rPr lang="zh-CN"/>
              <a:t>。</a:t>
            </a:r>
            <a:endParaRPr lang="zh-CN"/>
          </a:p>
          <a:p/>
          <a:p/>
          <a:p/>
          <a:p>
            <a:r>
              <a:t>         </a:t>
            </a:r>
            <a:r>
              <a:rPr>
                <a:solidFill>
                  <a:schemeClr val="tx2"/>
                </a:solidFill>
              </a:rPr>
              <a:t> struct rt_semaphore</a:t>
            </a:r>
            <a:endParaRPr>
              <a:solidFill>
                <a:schemeClr val="tx2"/>
              </a:solidFill>
            </a:endParaRPr>
          </a:p>
          <a:p>
            <a:r>
              <a:t>          {</a:t>
            </a:r>
          </a:p>
          <a:p>
            <a:r>
              <a:t>                   struct rt_ipc_object parent;                 /**&lt; inherit from ipc_object */</a:t>
            </a:r>
          </a:p>
          <a:p/>
          <a:p>
            <a:r>
              <a:t>                  rt_uint16_t          value;                         /**&lt; value of semaphore. */</a:t>
            </a:r>
          </a:p>
          <a:p>
            <a:r>
              <a:t>          };</a:t>
            </a:r>
          </a:p>
          <a:p>
            <a:r>
              <a:t>         </a:t>
            </a:r>
          </a:p>
          <a:p/>
          <a:p>
            <a:r>
              <a:t>           </a:t>
            </a:r>
            <a:r>
              <a:rPr lang="zh-CN"/>
              <a:t>定义静态信号量：</a:t>
            </a:r>
            <a:r>
              <a:rPr>
                <a:solidFill>
                  <a:schemeClr val="tx2"/>
                </a:solidFill>
                <a:sym typeface="+mn-ea"/>
              </a:rPr>
              <a:t>struct rt_semaphore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static_sem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定义动态信号量：</a:t>
            </a:r>
            <a:r>
              <a:rPr>
                <a:solidFill>
                  <a:schemeClr val="tx2"/>
                </a:solidFill>
                <a:sym typeface="+mn-ea"/>
              </a:rPr>
              <a:t>rt_sem_t  </a:t>
            </a:r>
            <a:r>
              <a:rPr>
                <a:solidFill>
                  <a:schemeClr val="tx1"/>
                </a:solidFill>
                <a:sym typeface="+mn-ea"/>
              </a:rPr>
              <a:t>dynamic_sem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32585" y="308419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288728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48155" y="226568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rt_sem_init</a:t>
            </a:r>
            <a:r>
              <a:rPr lang="zh-CN" altLang="en-US"/>
              <a:t>(rt_sem_t    sem,  const char *name,   rt_uint32_t value,  rt_uint8_t 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rt_sem_detach</a:t>
            </a:r>
            <a:r>
              <a:rPr lang="zh-CN" altLang="en-US"/>
              <a:t>(rt_sem_t sem)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8155" y="3456305"/>
            <a:ext cx="10344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rt_sem_t </a:t>
            </a:r>
            <a:r>
              <a:rPr lang="zh-CN" altLang="en-US">
                <a:solidFill>
                  <a:schemeClr val="tx2"/>
                </a:solidFill>
              </a:rPr>
              <a:t>rt_sem_create</a:t>
            </a:r>
            <a:r>
              <a:rPr lang="zh-CN" altLang="en-US"/>
              <a:t>(const char *name, rt_uint32_t value, rt_uint8_t flag)  </a:t>
            </a:r>
            <a:r>
              <a:rPr lang="zh-CN" altLang="en-US" sz="1200">
                <a:solidFill>
                  <a:schemeClr val="accent2"/>
                </a:solidFill>
              </a:rPr>
              <a:t>RT_IPC_FLAG_FIFO   RT_IPC_FLAG_PRIO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rt_sem_delete</a:t>
            </a:r>
            <a:r>
              <a:rPr lang="zh-CN" altLang="en-US"/>
              <a:t>(rt_sem_t sem)                                                                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28495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48993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获取信号量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84505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rt_sem_take</a:t>
            </a:r>
            <a:r>
              <a:rPr lang="zh-CN" altLang="en-US"/>
              <a:t>(rt_sem_t sem, rt_int32_t time)  </a:t>
            </a:r>
            <a:r>
              <a:rPr lang="en-US" altLang="zh-CN"/>
              <a:t>//</a:t>
            </a:r>
            <a:r>
              <a:rPr lang="zh-CN" altLang="en-US" sz="1400">
                <a:solidFill>
                  <a:schemeClr val="accent2"/>
                </a:solidFill>
              </a:rPr>
              <a:t>RT_WAITING_FOREVER</a:t>
            </a:r>
            <a:r>
              <a:rPr lang="en-US" altLang="zh-CN" sz="1400">
                <a:solidFill>
                  <a:schemeClr val="accent2"/>
                </a:solidFill>
              </a:rPr>
              <a:t>=-1</a:t>
            </a:r>
            <a:endParaRPr lang="zh-CN" altLang="en-US" sz="1400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rt_sem_trytake</a:t>
            </a:r>
            <a:r>
              <a:rPr lang="zh-CN" altLang="en-US"/>
              <a:t>(rt_sem_t sem)</a:t>
            </a:r>
            <a:endParaRPr lang="zh-CN" altLang="en-US"/>
          </a:p>
        </p:txBody>
      </p:sp>
      <p:grpSp>
        <p:nvGrpSpPr>
          <p:cNvPr id="7" name="îSľîḋé"/>
          <p:cNvGrpSpPr/>
          <p:nvPr/>
        </p:nvGrpSpPr>
        <p:grpSpPr>
          <a:xfrm>
            <a:off x="838069" y="5681320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748344" y="586915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释放信号量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241415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rt_sem_release</a:t>
            </a:r>
            <a:r>
              <a:rPr lang="zh-CN" altLang="en-US"/>
              <a:t>(rt_sem_t sem)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715895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信号量使用示例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宽屏</PresentationFormat>
  <Paragraphs>75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IPC</vt:lpstr>
      <vt:lpstr>例说信号量</vt:lpstr>
      <vt:lpstr>信号量工作机制</vt:lpstr>
      <vt:lpstr>信号量控制块</vt:lpstr>
      <vt:lpstr>信号量的操作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213</cp:revision>
  <dcterms:created xsi:type="dcterms:W3CDTF">2014-06-30T01:36:00Z</dcterms:created>
  <dcterms:modified xsi:type="dcterms:W3CDTF">2018-11-25T08:55:58Z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</Properties>
</file>