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8" r:id="rId3"/>
    <p:sldId id="407" r:id="rId4"/>
    <p:sldId id="409" r:id="rId6"/>
    <p:sldId id="408" r:id="rId7"/>
    <p:sldId id="40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324" y="408"/>
      </p:cViewPr>
      <p:guideLst>
        <p:guide orient="horz" pos="21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18-12-16T15:52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1186 443,'1'0,"0"0,0 0,0 0,0 0,0-1,0 1,0 0,0 0,1 0,-1 0,1 0,0 0,0 0,-1 0,1 0,2 0,-3 0,0 0,0 0,0 0,0 0,0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18-12-16T15:52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1058 624,'2'0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18-12-16T15:52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1058 624,'2'0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6F4B9-E833-452C-BAB3-A32CAEA9F5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8CFAC-F816-40AD-A33C-FCF3FC1EA0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330" y="1558459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8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9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cxnSp>
        <p:nvCxnSpPr>
          <p:cNvPr id="7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26129" y="1559095"/>
            <a:ext cx="1098927" cy="3468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8755" y="1776927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752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6.xml"/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81885" y="2555875"/>
            <a:ext cx="8289925" cy="1001395"/>
          </a:xfrm>
        </p:spPr>
        <p:txBody>
          <a:bodyPr/>
          <a:lstStyle/>
          <a:p>
            <a:r>
              <a:rPr lang="en-US" altLang="zh-CN" sz="4800" dirty="0"/>
              <a:t>RT-Thread</a:t>
            </a:r>
            <a:r>
              <a:rPr lang="zh-CN" altLang="en-US" sz="4800" dirty="0"/>
              <a:t>入门系列视频教程</a:t>
            </a:r>
            <a:endParaRPr lang="zh-CN" alt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89138" y="4910331"/>
            <a:ext cx="7382672" cy="1032599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         </a:t>
            </a:r>
            <a:r>
              <a:rPr lang="zh-CN" altLang="en-US" sz="2800" dirty="0"/>
              <a:t>第十四讲：</a:t>
            </a:r>
            <a:r>
              <a:rPr lang="en-US" altLang="zh-CN" sz="2800" dirty="0"/>
              <a:t> </a:t>
            </a:r>
            <a:r>
              <a:rPr lang="zh-CN" altLang="en-US" sz="2800" dirty="0"/>
              <a:t>消息队列的使用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消息队列工作机制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8993505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530225" y="1755140"/>
            <a:ext cx="864870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</a:t>
            </a:r>
            <a:r>
              <a:rPr lang="zh-CN"/>
              <a:t>消息队列是</a:t>
            </a:r>
            <a:r>
              <a:rPr lang="en-US" altLang="zh-CN"/>
              <a:t>RT-Thread</a:t>
            </a:r>
            <a:r>
              <a:rPr lang="zh-CN" altLang="en-US"/>
              <a:t>中另一种常用的</a:t>
            </a:r>
            <a:r>
              <a:t>线程间通信</a:t>
            </a:r>
            <a:r>
              <a:rPr lang="zh-CN"/>
              <a:t>方式</a:t>
            </a:r>
            <a:r>
              <a:t>，</a:t>
            </a:r>
            <a:r>
              <a:rPr lang="zh-CN"/>
              <a:t>消息队列是对邮箱的扩展</a:t>
            </a:r>
            <a:r>
              <a:t>。         </a:t>
            </a:r>
          </a:p>
          <a:p/>
          <a:p>
            <a:r>
              <a:t>        消息队列能够接收来自线程或中断服务例程中</a:t>
            </a:r>
            <a:r>
              <a:rPr lang="zh-CN"/>
              <a:t>发出的</a:t>
            </a:r>
            <a:r>
              <a:t>不固定长度的消息，并把消息缓存在自己的内存空间中</a:t>
            </a:r>
            <a:r>
              <a:rPr lang="zh-CN"/>
              <a:t>，而</a:t>
            </a:r>
            <a:r>
              <a:t>其他线程能够从消息队列中读取相应的消息</a:t>
            </a:r>
            <a:r>
              <a:rPr lang="zh-CN"/>
              <a:t>并进行对应的处理。</a:t>
            </a:r>
            <a:endParaRPr lang="zh-CN"/>
          </a:p>
          <a:p>
            <a:r>
              <a:rPr lang="zh-CN" altLang="en-US"/>
              <a:t>        </a:t>
            </a:r>
            <a:endParaRPr lang="zh-CN" altLang="en-US" sz="2000"/>
          </a:p>
          <a:p>
            <a:endParaRPr lang="zh-CN" altLang="en-US" sz="2000"/>
          </a:p>
        </p:txBody>
      </p:sp>
      <p:pic>
        <p:nvPicPr>
          <p:cNvPr id="3" name="图片 2" descr="E8K2%$QVO{3W4T2_$[52N@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940" y="3721735"/>
            <a:ext cx="7508875" cy="23323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消息队列控制块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8993505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223520" y="1350010"/>
            <a:ext cx="8773160" cy="5107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</a:t>
            </a:r>
            <a:endParaRPr lang="zh-CN" altLang="en-US"/>
          </a:p>
          <a:p>
            <a:r>
              <a:rPr sz="2000"/>
              <a:t>        </a:t>
            </a:r>
            <a:r>
              <a:t>在 RT-Thread 中，</a:t>
            </a:r>
            <a:r>
              <a:rPr lang="zh-CN"/>
              <a:t>消息队列</a:t>
            </a:r>
            <a:r>
              <a:t>控制块是操作系统用于管理</a:t>
            </a:r>
            <a:r>
              <a:rPr lang="zh-CN"/>
              <a:t>消息队列</a:t>
            </a:r>
            <a:r>
              <a:t>的一个数据结构</a:t>
            </a:r>
            <a:r>
              <a:rPr lang="zh-CN"/>
              <a:t>。</a:t>
            </a:r>
            <a:endParaRPr lang="zh-CN"/>
          </a:p>
          <a:p>
            <a:endParaRPr lang="zh-CN"/>
          </a:p>
          <a:p>
            <a:r>
              <a:t>        </a:t>
            </a:r>
            <a:r>
              <a:rPr>
                <a:solidFill>
                  <a:schemeClr val="tx2"/>
                </a:solidFill>
              </a:rPr>
              <a:t>struct rt_messagequeue</a:t>
            </a:r>
            <a:endParaRPr>
              <a:solidFill>
                <a:schemeClr val="tx2"/>
              </a:solidFill>
            </a:endParaRPr>
          </a:p>
          <a:p>
            <a:r>
              <a:t>        {</a:t>
            </a:r>
          </a:p>
          <a:p>
            <a:r>
              <a:t>           struct rt_ipc_object parent;              /**&lt; inherit from ipc_object */</a:t>
            </a:r>
          </a:p>
          <a:p>
            <a:r>
              <a:t>           void                *msg_pool;                   /**&lt; start address of message queue */</a:t>
            </a:r>
          </a:p>
          <a:p>
            <a:r>
              <a:t>           rt_uint16_t          msg_size;                /**&lt; message size of each message */</a:t>
            </a:r>
          </a:p>
          <a:p>
            <a:r>
              <a:t>           rt_uint16_t          max_msgs;             /**&lt; max number of messages */</a:t>
            </a:r>
          </a:p>
          <a:p>
            <a:r>
              <a:t>           rt_uint16_t          entry;                      /**&lt; index of messages in the queue */</a:t>
            </a:r>
          </a:p>
          <a:p>
            <a:r>
              <a:t>           void                *msg_queue_head;    /**&lt; list head */</a:t>
            </a:r>
          </a:p>
          <a:p>
            <a:r>
              <a:t>           void                *msg_queue_tail;        /**&lt; list tail */</a:t>
            </a:r>
          </a:p>
          <a:p>
            <a:r>
              <a:t>           void                *msg_queue_free;      /**&lt; pointer indicated the free node of queue */</a:t>
            </a:r>
          </a:p>
          <a:p>
            <a:r>
              <a:t>       };</a:t>
            </a:r>
          </a:p>
          <a:p>
            <a:r>
              <a:t>        typedef struct rt_messagequeue *</a:t>
            </a:r>
            <a:r>
              <a:rPr>
                <a:solidFill>
                  <a:schemeClr val="tx2"/>
                </a:solidFill>
              </a:rPr>
              <a:t>rt_mq_t</a:t>
            </a:r>
            <a:r>
              <a:t>;</a:t>
            </a:r>
          </a:p>
          <a:p>
            <a:r>
              <a:t>         </a:t>
            </a:r>
          </a:p>
          <a:p>
            <a:r>
              <a:t>           </a:t>
            </a:r>
            <a:r>
              <a:rPr lang="zh-CN"/>
              <a:t>定义静态消息队列：</a:t>
            </a:r>
            <a:r>
              <a:rPr>
                <a:solidFill>
                  <a:schemeClr val="tx2"/>
                </a:solidFill>
                <a:sym typeface="+mn-ea"/>
              </a:rPr>
              <a:t>struct rt_messagequeue </a:t>
            </a:r>
            <a:r>
              <a:rPr>
                <a:solidFill>
                  <a:schemeClr val="tx1"/>
                </a:solidFill>
                <a:sym typeface="+mn-ea"/>
              </a:rPr>
              <a:t>  </a:t>
            </a:r>
            <a:r>
              <a:rPr lang="en-US">
                <a:solidFill>
                  <a:schemeClr val="tx1"/>
                </a:solidFill>
                <a:sym typeface="+mn-ea"/>
              </a:rPr>
              <a:t>static_mq</a:t>
            </a:r>
            <a:endParaRPr lang="en-US">
              <a:solidFill>
                <a:schemeClr val="tx2"/>
              </a:solidFill>
              <a:sym typeface="+mn-ea"/>
            </a:endParaRPr>
          </a:p>
          <a:p>
            <a:r>
              <a:rPr lang="en-US">
                <a:solidFill>
                  <a:schemeClr val="tx2"/>
                </a:solidFill>
                <a:sym typeface="+mn-ea"/>
              </a:rPr>
              <a:t>           </a:t>
            </a:r>
            <a:r>
              <a:rPr lang="zh-CN">
                <a:sym typeface="+mn-ea"/>
              </a:rPr>
              <a:t>定义动态消息队列：</a:t>
            </a:r>
            <a:r>
              <a:rPr>
                <a:solidFill>
                  <a:schemeClr val="tx2"/>
                </a:solidFill>
                <a:sym typeface="+mn-ea"/>
              </a:rPr>
              <a:t>rt_mq_t  </a:t>
            </a:r>
            <a:r>
              <a:rPr>
                <a:solidFill>
                  <a:schemeClr val="tx1"/>
                </a:solidFill>
                <a:sym typeface="+mn-ea"/>
              </a:rPr>
              <a:t>dynamic_</a:t>
            </a:r>
            <a:r>
              <a:rPr lang="en-US">
                <a:solidFill>
                  <a:schemeClr val="tx1"/>
                </a:solidFill>
                <a:sym typeface="+mn-ea"/>
              </a:rPr>
              <a:t>mq</a:t>
            </a:r>
            <a:endParaRPr 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消息队列的操作</a:t>
            </a:r>
            <a:endParaRPr lang="zh-CN" altLang="en-US"/>
          </a:p>
        </p:txBody>
      </p:sp>
      <p:sp>
        <p:nvSpPr>
          <p:cNvPr id="55" name="íśľiďé"/>
          <p:cNvSpPr/>
          <p:nvPr/>
        </p:nvSpPr>
        <p:spPr>
          <a:xfrm>
            <a:off x="1631950" y="1716405"/>
            <a:ext cx="3361055" cy="372110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lstStyle/>
          <a:p>
            <a:r>
              <a:rPr lang="zh-CN" altLang="en-US" sz="2000" b="1">
                <a:solidFill>
                  <a:schemeClr val="accent1"/>
                </a:solidFill>
              </a:rPr>
              <a:t>初始化与脱离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53" name="îŝ1íḋè"/>
          <p:cNvSpPr/>
          <p:nvPr/>
        </p:nvSpPr>
        <p:spPr>
          <a:xfrm>
            <a:off x="1603375" y="3267710"/>
            <a:ext cx="3361055" cy="372110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lstStyle/>
          <a:p>
            <a:r>
              <a:rPr lang="zh-CN" altLang="en-US" sz="2000" b="1">
                <a:solidFill>
                  <a:schemeClr val="accent2"/>
                </a:solidFill>
              </a:rPr>
              <a:t>创建与删除</a:t>
            </a:r>
            <a:endParaRPr lang="zh-CN" altLang="en-US" sz="2000" b="1">
              <a:solidFill>
                <a:schemeClr val="accent2"/>
              </a:solidFill>
            </a:endParaRPr>
          </a:p>
        </p:txBody>
      </p:sp>
      <p:grpSp>
        <p:nvGrpSpPr>
          <p:cNvPr id="10" name="îŝḷiḑê"/>
          <p:cNvGrpSpPr/>
          <p:nvPr/>
        </p:nvGrpSpPr>
        <p:grpSpPr>
          <a:xfrm>
            <a:off x="866644" y="1500434"/>
            <a:ext cx="764860" cy="765060"/>
            <a:chOff x="6373382" y="2169288"/>
            <a:chExt cx="764860" cy="765060"/>
          </a:xfrm>
        </p:grpSpPr>
        <p:sp>
          <p:nvSpPr>
            <p:cNvPr id="45" name="îşḻiďê"/>
            <p:cNvSpPr/>
            <p:nvPr/>
          </p:nvSpPr>
          <p:spPr bwMode="auto">
            <a:xfrm>
              <a:off x="6373382" y="2169288"/>
              <a:ext cx="764860" cy="7650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6" name="îşļïdé"/>
            <p:cNvSpPr/>
            <p:nvPr/>
          </p:nvSpPr>
          <p:spPr bwMode="auto">
            <a:xfrm>
              <a:off x="6548708" y="2385035"/>
              <a:ext cx="414209" cy="333566"/>
            </a:xfrm>
            <a:custGeom>
              <a:avLst/>
              <a:gdLst>
                <a:gd name="T0" fmla="*/ 169 w 497"/>
                <a:gd name="T1" fmla="*/ 196 h 400"/>
                <a:gd name="T2" fmla="*/ 169 w 497"/>
                <a:gd name="T3" fmla="*/ 196 h 400"/>
                <a:gd name="T4" fmla="*/ 248 w 497"/>
                <a:gd name="T5" fmla="*/ 275 h 400"/>
                <a:gd name="T6" fmla="*/ 328 w 497"/>
                <a:gd name="T7" fmla="*/ 196 h 400"/>
                <a:gd name="T8" fmla="*/ 248 w 497"/>
                <a:gd name="T9" fmla="*/ 116 h 400"/>
                <a:gd name="T10" fmla="*/ 169 w 497"/>
                <a:gd name="T11" fmla="*/ 196 h 400"/>
                <a:gd name="T12" fmla="*/ 116 w 497"/>
                <a:gd name="T13" fmla="*/ 169 h 400"/>
                <a:gd name="T14" fmla="*/ 116 w 497"/>
                <a:gd name="T15" fmla="*/ 169 h 400"/>
                <a:gd name="T16" fmla="*/ 248 w 497"/>
                <a:gd name="T17" fmla="*/ 63 h 400"/>
                <a:gd name="T18" fmla="*/ 345 w 497"/>
                <a:gd name="T19" fmla="*/ 98 h 400"/>
                <a:gd name="T20" fmla="*/ 390 w 497"/>
                <a:gd name="T21" fmla="*/ 98 h 400"/>
                <a:gd name="T22" fmla="*/ 390 w 497"/>
                <a:gd name="T23" fmla="*/ 54 h 400"/>
                <a:gd name="T24" fmla="*/ 248 w 497"/>
                <a:gd name="T25" fmla="*/ 0 h 400"/>
                <a:gd name="T26" fmla="*/ 62 w 497"/>
                <a:gd name="T27" fmla="*/ 143 h 400"/>
                <a:gd name="T28" fmla="*/ 0 w 497"/>
                <a:gd name="T29" fmla="*/ 143 h 400"/>
                <a:gd name="T30" fmla="*/ 0 w 497"/>
                <a:gd name="T31" fmla="*/ 196 h 400"/>
                <a:gd name="T32" fmla="*/ 80 w 497"/>
                <a:gd name="T33" fmla="*/ 196 h 400"/>
                <a:gd name="T34" fmla="*/ 116 w 497"/>
                <a:gd name="T35" fmla="*/ 169 h 400"/>
                <a:gd name="T36" fmla="*/ 416 w 497"/>
                <a:gd name="T37" fmla="*/ 196 h 400"/>
                <a:gd name="T38" fmla="*/ 416 w 497"/>
                <a:gd name="T39" fmla="*/ 196 h 400"/>
                <a:gd name="T40" fmla="*/ 381 w 497"/>
                <a:gd name="T41" fmla="*/ 231 h 400"/>
                <a:gd name="T42" fmla="*/ 248 w 497"/>
                <a:gd name="T43" fmla="*/ 337 h 400"/>
                <a:gd name="T44" fmla="*/ 151 w 497"/>
                <a:gd name="T45" fmla="*/ 293 h 400"/>
                <a:gd name="T46" fmla="*/ 107 w 497"/>
                <a:gd name="T47" fmla="*/ 293 h 400"/>
                <a:gd name="T48" fmla="*/ 107 w 497"/>
                <a:gd name="T49" fmla="*/ 337 h 400"/>
                <a:gd name="T50" fmla="*/ 248 w 497"/>
                <a:gd name="T51" fmla="*/ 399 h 400"/>
                <a:gd name="T52" fmla="*/ 435 w 497"/>
                <a:gd name="T53" fmla="*/ 257 h 400"/>
                <a:gd name="T54" fmla="*/ 496 w 497"/>
                <a:gd name="T55" fmla="*/ 257 h 400"/>
                <a:gd name="T56" fmla="*/ 496 w 497"/>
                <a:gd name="T57" fmla="*/ 196 h 400"/>
                <a:gd name="T58" fmla="*/ 416 w 497"/>
                <a:gd name="T59" fmla="*/ 19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97" h="400">
                  <a:moveTo>
                    <a:pt x="169" y="196"/>
                  </a:moveTo>
                  <a:lnTo>
                    <a:pt x="169" y="196"/>
                  </a:lnTo>
                  <a:cubicBezTo>
                    <a:pt x="169" y="240"/>
                    <a:pt x="204" y="275"/>
                    <a:pt x="248" y="275"/>
                  </a:cubicBezTo>
                  <a:cubicBezTo>
                    <a:pt x="292" y="275"/>
                    <a:pt x="328" y="240"/>
                    <a:pt x="328" y="196"/>
                  </a:cubicBezTo>
                  <a:cubicBezTo>
                    <a:pt x="328" y="151"/>
                    <a:pt x="292" y="116"/>
                    <a:pt x="248" y="116"/>
                  </a:cubicBezTo>
                  <a:cubicBezTo>
                    <a:pt x="204" y="116"/>
                    <a:pt x="169" y="151"/>
                    <a:pt x="169" y="196"/>
                  </a:cubicBezTo>
                  <a:close/>
                  <a:moveTo>
                    <a:pt x="116" y="169"/>
                  </a:moveTo>
                  <a:lnTo>
                    <a:pt x="116" y="169"/>
                  </a:lnTo>
                  <a:cubicBezTo>
                    <a:pt x="124" y="107"/>
                    <a:pt x="186" y="63"/>
                    <a:pt x="248" y="63"/>
                  </a:cubicBezTo>
                  <a:cubicBezTo>
                    <a:pt x="284" y="63"/>
                    <a:pt x="319" y="71"/>
                    <a:pt x="345" y="98"/>
                  </a:cubicBezTo>
                  <a:cubicBezTo>
                    <a:pt x="354" y="107"/>
                    <a:pt x="381" y="107"/>
                    <a:pt x="390" y="98"/>
                  </a:cubicBezTo>
                  <a:cubicBezTo>
                    <a:pt x="399" y="89"/>
                    <a:pt x="399" y="71"/>
                    <a:pt x="390" y="54"/>
                  </a:cubicBezTo>
                  <a:cubicBezTo>
                    <a:pt x="354" y="18"/>
                    <a:pt x="301" y="0"/>
                    <a:pt x="248" y="0"/>
                  </a:cubicBezTo>
                  <a:cubicBezTo>
                    <a:pt x="160" y="0"/>
                    <a:pt x="80" y="54"/>
                    <a:pt x="62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80" y="196"/>
                    <a:pt x="80" y="196"/>
                    <a:pt x="80" y="196"/>
                  </a:cubicBezTo>
                  <a:cubicBezTo>
                    <a:pt x="107" y="196"/>
                    <a:pt x="107" y="178"/>
                    <a:pt x="116" y="169"/>
                  </a:cubicBezTo>
                  <a:close/>
                  <a:moveTo>
                    <a:pt x="416" y="196"/>
                  </a:moveTo>
                  <a:lnTo>
                    <a:pt x="416" y="196"/>
                  </a:lnTo>
                  <a:cubicBezTo>
                    <a:pt x="390" y="196"/>
                    <a:pt x="390" y="222"/>
                    <a:pt x="381" y="231"/>
                  </a:cubicBezTo>
                  <a:cubicBezTo>
                    <a:pt x="372" y="293"/>
                    <a:pt x="319" y="337"/>
                    <a:pt x="248" y="337"/>
                  </a:cubicBezTo>
                  <a:cubicBezTo>
                    <a:pt x="213" y="337"/>
                    <a:pt x="177" y="319"/>
                    <a:pt x="151" y="293"/>
                  </a:cubicBezTo>
                  <a:cubicBezTo>
                    <a:pt x="142" y="284"/>
                    <a:pt x="116" y="284"/>
                    <a:pt x="107" y="293"/>
                  </a:cubicBezTo>
                  <a:cubicBezTo>
                    <a:pt x="97" y="310"/>
                    <a:pt x="97" y="328"/>
                    <a:pt x="107" y="337"/>
                  </a:cubicBezTo>
                  <a:cubicBezTo>
                    <a:pt x="142" y="373"/>
                    <a:pt x="195" y="399"/>
                    <a:pt x="248" y="399"/>
                  </a:cubicBezTo>
                  <a:cubicBezTo>
                    <a:pt x="337" y="399"/>
                    <a:pt x="416" y="337"/>
                    <a:pt x="435" y="257"/>
                  </a:cubicBezTo>
                  <a:cubicBezTo>
                    <a:pt x="496" y="257"/>
                    <a:pt x="496" y="257"/>
                    <a:pt x="496" y="257"/>
                  </a:cubicBezTo>
                  <a:cubicBezTo>
                    <a:pt x="496" y="196"/>
                    <a:pt x="496" y="196"/>
                    <a:pt x="496" y="196"/>
                  </a:cubicBezTo>
                  <a:lnTo>
                    <a:pt x="416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11" name="îṡlíḋé"/>
          <p:cNvGrpSpPr/>
          <p:nvPr/>
        </p:nvGrpSpPr>
        <p:grpSpPr>
          <a:xfrm>
            <a:off x="867279" y="3046674"/>
            <a:ext cx="764860" cy="765060"/>
            <a:chOff x="6377202" y="3049115"/>
            <a:chExt cx="764860" cy="765060"/>
          </a:xfrm>
        </p:grpSpPr>
        <p:sp>
          <p:nvSpPr>
            <p:cNvPr id="43" name="íśliḍè"/>
            <p:cNvSpPr/>
            <p:nvPr/>
          </p:nvSpPr>
          <p:spPr bwMode="auto">
            <a:xfrm>
              <a:off x="6377202" y="3049115"/>
              <a:ext cx="764860" cy="7650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4" name="íṣļiḑe"/>
            <p:cNvSpPr/>
            <p:nvPr/>
          </p:nvSpPr>
          <p:spPr bwMode="auto">
            <a:xfrm>
              <a:off x="6593915" y="3298192"/>
              <a:ext cx="331434" cy="266907"/>
            </a:xfrm>
            <a:custGeom>
              <a:avLst/>
              <a:gdLst>
                <a:gd name="T0" fmla="*/ 443 w 497"/>
                <a:gd name="T1" fmla="*/ 0 h 400"/>
                <a:gd name="T2" fmla="*/ 443 w 497"/>
                <a:gd name="T3" fmla="*/ 0 h 400"/>
                <a:gd name="T4" fmla="*/ 53 w 497"/>
                <a:gd name="T5" fmla="*/ 0 h 400"/>
                <a:gd name="T6" fmla="*/ 0 w 497"/>
                <a:gd name="T7" fmla="*/ 44 h 400"/>
                <a:gd name="T8" fmla="*/ 0 w 497"/>
                <a:gd name="T9" fmla="*/ 346 h 400"/>
                <a:gd name="T10" fmla="*/ 53 w 497"/>
                <a:gd name="T11" fmla="*/ 399 h 400"/>
                <a:gd name="T12" fmla="*/ 443 w 497"/>
                <a:gd name="T13" fmla="*/ 399 h 400"/>
                <a:gd name="T14" fmla="*/ 496 w 497"/>
                <a:gd name="T15" fmla="*/ 346 h 400"/>
                <a:gd name="T16" fmla="*/ 496 w 497"/>
                <a:gd name="T17" fmla="*/ 44 h 400"/>
                <a:gd name="T18" fmla="*/ 443 w 497"/>
                <a:gd name="T19" fmla="*/ 0 h 400"/>
                <a:gd name="T20" fmla="*/ 443 w 497"/>
                <a:gd name="T21" fmla="*/ 346 h 400"/>
                <a:gd name="T22" fmla="*/ 443 w 497"/>
                <a:gd name="T23" fmla="*/ 346 h 400"/>
                <a:gd name="T24" fmla="*/ 53 w 497"/>
                <a:gd name="T25" fmla="*/ 346 h 400"/>
                <a:gd name="T26" fmla="*/ 53 w 497"/>
                <a:gd name="T27" fmla="*/ 44 h 400"/>
                <a:gd name="T28" fmla="*/ 443 w 497"/>
                <a:gd name="T29" fmla="*/ 44 h 400"/>
                <a:gd name="T30" fmla="*/ 443 w 497"/>
                <a:gd name="T31" fmla="*/ 346 h 400"/>
                <a:gd name="T32" fmla="*/ 222 w 497"/>
                <a:gd name="T33" fmla="*/ 249 h 400"/>
                <a:gd name="T34" fmla="*/ 222 w 497"/>
                <a:gd name="T35" fmla="*/ 249 h 400"/>
                <a:gd name="T36" fmla="*/ 97 w 497"/>
                <a:gd name="T37" fmla="*/ 249 h 400"/>
                <a:gd name="T38" fmla="*/ 97 w 497"/>
                <a:gd name="T39" fmla="*/ 293 h 400"/>
                <a:gd name="T40" fmla="*/ 222 w 497"/>
                <a:gd name="T41" fmla="*/ 293 h 400"/>
                <a:gd name="T42" fmla="*/ 222 w 497"/>
                <a:gd name="T43" fmla="*/ 249 h 400"/>
                <a:gd name="T44" fmla="*/ 222 w 497"/>
                <a:gd name="T45" fmla="*/ 178 h 400"/>
                <a:gd name="T46" fmla="*/ 222 w 497"/>
                <a:gd name="T47" fmla="*/ 178 h 400"/>
                <a:gd name="T48" fmla="*/ 97 w 497"/>
                <a:gd name="T49" fmla="*/ 178 h 400"/>
                <a:gd name="T50" fmla="*/ 97 w 497"/>
                <a:gd name="T51" fmla="*/ 222 h 400"/>
                <a:gd name="T52" fmla="*/ 222 w 497"/>
                <a:gd name="T53" fmla="*/ 222 h 400"/>
                <a:gd name="T54" fmla="*/ 222 w 497"/>
                <a:gd name="T55" fmla="*/ 178 h 400"/>
                <a:gd name="T56" fmla="*/ 222 w 497"/>
                <a:gd name="T57" fmla="*/ 98 h 400"/>
                <a:gd name="T58" fmla="*/ 222 w 497"/>
                <a:gd name="T59" fmla="*/ 98 h 400"/>
                <a:gd name="T60" fmla="*/ 97 w 497"/>
                <a:gd name="T61" fmla="*/ 98 h 400"/>
                <a:gd name="T62" fmla="*/ 97 w 497"/>
                <a:gd name="T63" fmla="*/ 143 h 400"/>
                <a:gd name="T64" fmla="*/ 222 w 497"/>
                <a:gd name="T65" fmla="*/ 143 h 400"/>
                <a:gd name="T66" fmla="*/ 222 w 497"/>
                <a:gd name="T67" fmla="*/ 98 h 400"/>
                <a:gd name="T68" fmla="*/ 389 w 497"/>
                <a:gd name="T69" fmla="*/ 257 h 400"/>
                <a:gd name="T70" fmla="*/ 389 w 497"/>
                <a:gd name="T71" fmla="*/ 257 h 400"/>
                <a:gd name="T72" fmla="*/ 354 w 497"/>
                <a:gd name="T73" fmla="*/ 231 h 400"/>
                <a:gd name="T74" fmla="*/ 381 w 497"/>
                <a:gd name="T75" fmla="*/ 151 h 400"/>
                <a:gd name="T76" fmla="*/ 336 w 497"/>
                <a:gd name="T77" fmla="*/ 98 h 400"/>
                <a:gd name="T78" fmla="*/ 292 w 497"/>
                <a:gd name="T79" fmla="*/ 151 h 400"/>
                <a:gd name="T80" fmla="*/ 319 w 497"/>
                <a:gd name="T81" fmla="*/ 231 h 400"/>
                <a:gd name="T82" fmla="*/ 275 w 497"/>
                <a:gd name="T83" fmla="*/ 257 h 400"/>
                <a:gd name="T84" fmla="*/ 275 w 497"/>
                <a:gd name="T85" fmla="*/ 293 h 400"/>
                <a:gd name="T86" fmla="*/ 398 w 497"/>
                <a:gd name="T87" fmla="*/ 293 h 400"/>
                <a:gd name="T88" fmla="*/ 389 w 497"/>
                <a:gd name="T89" fmla="*/ 25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400">
                  <a:moveTo>
                    <a:pt x="443" y="0"/>
                  </a:moveTo>
                  <a:lnTo>
                    <a:pt x="443" y="0"/>
                  </a:lnTo>
                  <a:cubicBezTo>
                    <a:pt x="53" y="0"/>
                    <a:pt x="53" y="0"/>
                    <a:pt x="53" y="0"/>
                  </a:cubicBezTo>
                  <a:cubicBezTo>
                    <a:pt x="17" y="0"/>
                    <a:pt x="0" y="18"/>
                    <a:pt x="0" y="44"/>
                  </a:cubicBezTo>
                  <a:cubicBezTo>
                    <a:pt x="0" y="346"/>
                    <a:pt x="0" y="346"/>
                    <a:pt x="0" y="346"/>
                  </a:cubicBezTo>
                  <a:cubicBezTo>
                    <a:pt x="0" y="373"/>
                    <a:pt x="17" y="399"/>
                    <a:pt x="53" y="399"/>
                  </a:cubicBezTo>
                  <a:cubicBezTo>
                    <a:pt x="443" y="399"/>
                    <a:pt x="443" y="399"/>
                    <a:pt x="443" y="399"/>
                  </a:cubicBezTo>
                  <a:cubicBezTo>
                    <a:pt x="470" y="399"/>
                    <a:pt x="496" y="373"/>
                    <a:pt x="496" y="346"/>
                  </a:cubicBezTo>
                  <a:cubicBezTo>
                    <a:pt x="496" y="44"/>
                    <a:pt x="496" y="44"/>
                    <a:pt x="496" y="44"/>
                  </a:cubicBezTo>
                  <a:cubicBezTo>
                    <a:pt x="496" y="18"/>
                    <a:pt x="470" y="0"/>
                    <a:pt x="443" y="0"/>
                  </a:cubicBezTo>
                  <a:close/>
                  <a:moveTo>
                    <a:pt x="443" y="346"/>
                  </a:moveTo>
                  <a:lnTo>
                    <a:pt x="443" y="346"/>
                  </a:lnTo>
                  <a:cubicBezTo>
                    <a:pt x="53" y="346"/>
                    <a:pt x="53" y="346"/>
                    <a:pt x="53" y="346"/>
                  </a:cubicBezTo>
                  <a:cubicBezTo>
                    <a:pt x="53" y="44"/>
                    <a:pt x="53" y="44"/>
                    <a:pt x="53" y="44"/>
                  </a:cubicBezTo>
                  <a:cubicBezTo>
                    <a:pt x="443" y="44"/>
                    <a:pt x="443" y="44"/>
                    <a:pt x="443" y="44"/>
                  </a:cubicBezTo>
                  <a:lnTo>
                    <a:pt x="443" y="346"/>
                  </a:lnTo>
                  <a:close/>
                  <a:moveTo>
                    <a:pt x="222" y="249"/>
                  </a:moveTo>
                  <a:lnTo>
                    <a:pt x="222" y="249"/>
                  </a:lnTo>
                  <a:cubicBezTo>
                    <a:pt x="97" y="249"/>
                    <a:pt x="97" y="249"/>
                    <a:pt x="97" y="249"/>
                  </a:cubicBezTo>
                  <a:cubicBezTo>
                    <a:pt x="97" y="293"/>
                    <a:pt x="97" y="293"/>
                    <a:pt x="97" y="293"/>
                  </a:cubicBezTo>
                  <a:cubicBezTo>
                    <a:pt x="222" y="293"/>
                    <a:pt x="222" y="293"/>
                    <a:pt x="222" y="293"/>
                  </a:cubicBezTo>
                  <a:lnTo>
                    <a:pt x="222" y="249"/>
                  </a:lnTo>
                  <a:close/>
                  <a:moveTo>
                    <a:pt x="222" y="178"/>
                  </a:moveTo>
                  <a:lnTo>
                    <a:pt x="222" y="178"/>
                  </a:lnTo>
                  <a:cubicBezTo>
                    <a:pt x="97" y="178"/>
                    <a:pt x="97" y="178"/>
                    <a:pt x="97" y="178"/>
                  </a:cubicBezTo>
                  <a:cubicBezTo>
                    <a:pt x="97" y="222"/>
                    <a:pt x="97" y="222"/>
                    <a:pt x="97" y="222"/>
                  </a:cubicBezTo>
                  <a:cubicBezTo>
                    <a:pt x="222" y="222"/>
                    <a:pt x="222" y="222"/>
                    <a:pt x="222" y="222"/>
                  </a:cubicBezTo>
                  <a:lnTo>
                    <a:pt x="222" y="178"/>
                  </a:lnTo>
                  <a:close/>
                  <a:moveTo>
                    <a:pt x="222" y="98"/>
                  </a:moveTo>
                  <a:lnTo>
                    <a:pt x="222" y="98"/>
                  </a:lnTo>
                  <a:cubicBezTo>
                    <a:pt x="97" y="98"/>
                    <a:pt x="97" y="98"/>
                    <a:pt x="97" y="98"/>
                  </a:cubicBezTo>
                  <a:cubicBezTo>
                    <a:pt x="97" y="143"/>
                    <a:pt x="97" y="143"/>
                    <a:pt x="97" y="143"/>
                  </a:cubicBezTo>
                  <a:cubicBezTo>
                    <a:pt x="222" y="143"/>
                    <a:pt x="222" y="143"/>
                    <a:pt x="222" y="143"/>
                  </a:cubicBezTo>
                  <a:lnTo>
                    <a:pt x="222" y="98"/>
                  </a:lnTo>
                  <a:close/>
                  <a:moveTo>
                    <a:pt x="389" y="257"/>
                  </a:moveTo>
                  <a:lnTo>
                    <a:pt x="389" y="257"/>
                  </a:lnTo>
                  <a:cubicBezTo>
                    <a:pt x="389" y="257"/>
                    <a:pt x="354" y="249"/>
                    <a:pt x="354" y="231"/>
                  </a:cubicBezTo>
                  <a:cubicBezTo>
                    <a:pt x="354" y="204"/>
                    <a:pt x="381" y="196"/>
                    <a:pt x="381" y="151"/>
                  </a:cubicBezTo>
                  <a:cubicBezTo>
                    <a:pt x="381" y="125"/>
                    <a:pt x="372" y="98"/>
                    <a:pt x="336" y="98"/>
                  </a:cubicBezTo>
                  <a:cubicBezTo>
                    <a:pt x="301" y="98"/>
                    <a:pt x="292" y="125"/>
                    <a:pt x="292" y="151"/>
                  </a:cubicBezTo>
                  <a:cubicBezTo>
                    <a:pt x="292" y="196"/>
                    <a:pt x="319" y="204"/>
                    <a:pt x="319" y="231"/>
                  </a:cubicBezTo>
                  <a:cubicBezTo>
                    <a:pt x="319" y="249"/>
                    <a:pt x="275" y="257"/>
                    <a:pt x="275" y="257"/>
                  </a:cubicBezTo>
                  <a:lnTo>
                    <a:pt x="275" y="293"/>
                  </a:lnTo>
                  <a:cubicBezTo>
                    <a:pt x="398" y="293"/>
                    <a:pt x="398" y="293"/>
                    <a:pt x="398" y="293"/>
                  </a:cubicBezTo>
                  <a:cubicBezTo>
                    <a:pt x="398" y="293"/>
                    <a:pt x="398" y="257"/>
                    <a:pt x="389" y="25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748155" y="2265680"/>
            <a:ext cx="104241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rt_mq_init</a:t>
            </a:r>
            <a:r>
              <a:rPr lang="zh-CN" altLang="en-US"/>
              <a:t>(rt_mq_t  mq, const char *name, void *msgpool, rt_size_t  msg_size, rt_size_t  pool_size,</a:t>
            </a:r>
            <a:endParaRPr lang="zh-CN" altLang="en-US"/>
          </a:p>
          <a:p>
            <a:r>
              <a:rPr lang="zh-CN" altLang="en-US"/>
              <a:t>                                                                                                                                                                       rt_uint8_t  flag)</a:t>
            </a:r>
            <a:endParaRPr lang="zh-CN" altLang="en-US"/>
          </a:p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rt_mq_detach</a:t>
            </a:r>
            <a:r>
              <a:rPr lang="zh-CN" altLang="en-US"/>
              <a:t>(rt_mq_t mq)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48155" y="3639820"/>
            <a:ext cx="9918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rt_mq_t </a:t>
            </a:r>
            <a:r>
              <a:rPr lang="zh-CN" altLang="en-US">
                <a:solidFill>
                  <a:schemeClr val="tx2"/>
                </a:solidFill>
              </a:rPr>
              <a:t>rt_mq_create</a:t>
            </a:r>
            <a:r>
              <a:rPr lang="zh-CN" altLang="en-US"/>
              <a:t>(const char *name, rt_size_t   msg_size, rt_size_t   max_msgs,rt_uint8_t  flag)</a:t>
            </a:r>
            <a:endParaRPr lang="zh-CN" altLang="en-US"/>
          </a:p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rt_mq_delete</a:t>
            </a:r>
            <a:r>
              <a:rPr lang="zh-CN" altLang="en-US"/>
              <a:t>(rt_mq_t mq)</a:t>
            </a:r>
            <a:endParaRPr lang="zh-CN" altLang="en-US"/>
          </a:p>
        </p:txBody>
      </p:sp>
      <p:grpSp>
        <p:nvGrpSpPr>
          <p:cNvPr id="8" name="îSľîḋé"/>
          <p:cNvGrpSpPr/>
          <p:nvPr/>
        </p:nvGrpSpPr>
        <p:grpSpPr>
          <a:xfrm>
            <a:off x="838069" y="4284955"/>
            <a:ext cx="764860" cy="765060"/>
            <a:chOff x="6356794" y="4841144"/>
            <a:chExt cx="764860" cy="765060"/>
          </a:xfrm>
        </p:grpSpPr>
        <p:sp>
          <p:nvSpPr>
            <p:cNvPr id="49" name="íŝlïďê"/>
            <p:cNvSpPr/>
            <p:nvPr/>
          </p:nvSpPr>
          <p:spPr bwMode="auto">
            <a:xfrm>
              <a:off x="6356794" y="4841144"/>
              <a:ext cx="764860" cy="7650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</a:p>
          </p:txBody>
        </p:sp>
        <p:sp>
          <p:nvSpPr>
            <p:cNvPr id="50" name="iṧḻidê"/>
            <p:cNvSpPr/>
            <p:nvPr/>
          </p:nvSpPr>
          <p:spPr bwMode="auto">
            <a:xfrm>
              <a:off x="6602877" y="5046238"/>
              <a:ext cx="272695" cy="354873"/>
            </a:xfrm>
            <a:custGeom>
              <a:avLst/>
              <a:gdLst>
                <a:gd name="T0" fmla="*/ 115 w 320"/>
                <a:gd name="T1" fmla="*/ 62 h 417"/>
                <a:gd name="T2" fmla="*/ 115 w 320"/>
                <a:gd name="T3" fmla="*/ 62 h 417"/>
                <a:gd name="T4" fmla="*/ 62 w 320"/>
                <a:gd name="T5" fmla="*/ 0 h 417"/>
                <a:gd name="T6" fmla="*/ 0 w 320"/>
                <a:gd name="T7" fmla="*/ 62 h 417"/>
                <a:gd name="T8" fmla="*/ 36 w 320"/>
                <a:gd name="T9" fmla="*/ 115 h 417"/>
                <a:gd name="T10" fmla="*/ 36 w 320"/>
                <a:gd name="T11" fmla="*/ 301 h 417"/>
                <a:gd name="T12" fmla="*/ 0 w 320"/>
                <a:gd name="T13" fmla="*/ 354 h 417"/>
                <a:gd name="T14" fmla="*/ 62 w 320"/>
                <a:gd name="T15" fmla="*/ 416 h 417"/>
                <a:gd name="T16" fmla="*/ 115 w 320"/>
                <a:gd name="T17" fmla="*/ 354 h 417"/>
                <a:gd name="T18" fmla="*/ 80 w 320"/>
                <a:gd name="T19" fmla="*/ 301 h 417"/>
                <a:gd name="T20" fmla="*/ 80 w 320"/>
                <a:gd name="T21" fmla="*/ 115 h 417"/>
                <a:gd name="T22" fmla="*/ 115 w 320"/>
                <a:gd name="T23" fmla="*/ 62 h 417"/>
                <a:gd name="T24" fmla="*/ 98 w 320"/>
                <a:gd name="T25" fmla="*/ 354 h 417"/>
                <a:gd name="T26" fmla="*/ 98 w 320"/>
                <a:gd name="T27" fmla="*/ 354 h 417"/>
                <a:gd name="T28" fmla="*/ 62 w 320"/>
                <a:gd name="T29" fmla="*/ 390 h 417"/>
                <a:gd name="T30" fmla="*/ 27 w 320"/>
                <a:gd name="T31" fmla="*/ 354 h 417"/>
                <a:gd name="T32" fmla="*/ 62 w 320"/>
                <a:gd name="T33" fmla="*/ 319 h 417"/>
                <a:gd name="T34" fmla="*/ 98 w 320"/>
                <a:gd name="T35" fmla="*/ 354 h 417"/>
                <a:gd name="T36" fmla="*/ 62 w 320"/>
                <a:gd name="T37" fmla="*/ 88 h 417"/>
                <a:gd name="T38" fmla="*/ 62 w 320"/>
                <a:gd name="T39" fmla="*/ 88 h 417"/>
                <a:gd name="T40" fmla="*/ 27 w 320"/>
                <a:gd name="T41" fmla="*/ 62 h 417"/>
                <a:gd name="T42" fmla="*/ 62 w 320"/>
                <a:gd name="T43" fmla="*/ 27 h 417"/>
                <a:gd name="T44" fmla="*/ 98 w 320"/>
                <a:gd name="T45" fmla="*/ 62 h 417"/>
                <a:gd name="T46" fmla="*/ 62 w 320"/>
                <a:gd name="T47" fmla="*/ 88 h 417"/>
                <a:gd name="T48" fmla="*/ 284 w 320"/>
                <a:gd name="T49" fmla="*/ 301 h 417"/>
                <a:gd name="T50" fmla="*/ 284 w 320"/>
                <a:gd name="T51" fmla="*/ 301 h 417"/>
                <a:gd name="T52" fmla="*/ 284 w 320"/>
                <a:gd name="T53" fmla="*/ 115 h 417"/>
                <a:gd name="T54" fmla="*/ 319 w 320"/>
                <a:gd name="T55" fmla="*/ 62 h 417"/>
                <a:gd name="T56" fmla="*/ 257 w 320"/>
                <a:gd name="T57" fmla="*/ 0 h 417"/>
                <a:gd name="T58" fmla="*/ 195 w 320"/>
                <a:gd name="T59" fmla="*/ 62 h 417"/>
                <a:gd name="T60" fmla="*/ 239 w 320"/>
                <a:gd name="T61" fmla="*/ 115 h 417"/>
                <a:gd name="T62" fmla="*/ 239 w 320"/>
                <a:gd name="T63" fmla="*/ 301 h 417"/>
                <a:gd name="T64" fmla="*/ 195 w 320"/>
                <a:gd name="T65" fmla="*/ 354 h 417"/>
                <a:gd name="T66" fmla="*/ 257 w 320"/>
                <a:gd name="T67" fmla="*/ 416 h 417"/>
                <a:gd name="T68" fmla="*/ 319 w 320"/>
                <a:gd name="T69" fmla="*/ 354 h 417"/>
                <a:gd name="T70" fmla="*/ 284 w 320"/>
                <a:gd name="T71" fmla="*/ 301 h 417"/>
                <a:gd name="T72" fmla="*/ 221 w 320"/>
                <a:gd name="T73" fmla="*/ 62 h 417"/>
                <a:gd name="T74" fmla="*/ 221 w 320"/>
                <a:gd name="T75" fmla="*/ 62 h 417"/>
                <a:gd name="T76" fmla="*/ 257 w 320"/>
                <a:gd name="T77" fmla="*/ 27 h 417"/>
                <a:gd name="T78" fmla="*/ 292 w 320"/>
                <a:gd name="T79" fmla="*/ 62 h 417"/>
                <a:gd name="T80" fmla="*/ 257 w 320"/>
                <a:gd name="T81" fmla="*/ 88 h 417"/>
                <a:gd name="T82" fmla="*/ 221 w 320"/>
                <a:gd name="T83" fmla="*/ 62 h 417"/>
                <a:gd name="T84" fmla="*/ 257 w 320"/>
                <a:gd name="T85" fmla="*/ 390 h 417"/>
                <a:gd name="T86" fmla="*/ 257 w 320"/>
                <a:gd name="T87" fmla="*/ 390 h 417"/>
                <a:gd name="T88" fmla="*/ 221 w 320"/>
                <a:gd name="T89" fmla="*/ 354 h 417"/>
                <a:gd name="T90" fmla="*/ 257 w 320"/>
                <a:gd name="T91" fmla="*/ 319 h 417"/>
                <a:gd name="T92" fmla="*/ 292 w 320"/>
                <a:gd name="T93" fmla="*/ 354 h 417"/>
                <a:gd name="T94" fmla="*/ 257 w 320"/>
                <a:gd name="T95" fmla="*/ 3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0" h="417">
                  <a:moveTo>
                    <a:pt x="115" y="62"/>
                  </a:moveTo>
                  <a:lnTo>
                    <a:pt x="115" y="62"/>
                  </a:lnTo>
                  <a:cubicBezTo>
                    <a:pt x="115" y="27"/>
                    <a:pt x="89" y="0"/>
                    <a:pt x="62" y="0"/>
                  </a:cubicBezTo>
                  <a:cubicBezTo>
                    <a:pt x="27" y="0"/>
                    <a:pt x="0" y="27"/>
                    <a:pt x="0" y="62"/>
                  </a:cubicBezTo>
                  <a:cubicBezTo>
                    <a:pt x="0" y="80"/>
                    <a:pt x="18" y="106"/>
                    <a:pt x="36" y="115"/>
                  </a:cubicBezTo>
                  <a:cubicBezTo>
                    <a:pt x="36" y="301"/>
                    <a:pt x="36" y="301"/>
                    <a:pt x="36" y="301"/>
                  </a:cubicBezTo>
                  <a:cubicBezTo>
                    <a:pt x="18" y="310"/>
                    <a:pt x="0" y="328"/>
                    <a:pt x="0" y="354"/>
                  </a:cubicBezTo>
                  <a:cubicBezTo>
                    <a:pt x="0" y="390"/>
                    <a:pt x="27" y="416"/>
                    <a:pt x="62" y="416"/>
                  </a:cubicBezTo>
                  <a:cubicBezTo>
                    <a:pt x="89" y="416"/>
                    <a:pt x="115" y="390"/>
                    <a:pt x="115" y="354"/>
                  </a:cubicBezTo>
                  <a:cubicBezTo>
                    <a:pt x="115" y="328"/>
                    <a:pt x="106" y="310"/>
                    <a:pt x="80" y="301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106" y="106"/>
                    <a:pt x="115" y="80"/>
                    <a:pt x="115" y="62"/>
                  </a:cubicBezTo>
                  <a:close/>
                  <a:moveTo>
                    <a:pt x="98" y="354"/>
                  </a:moveTo>
                  <a:lnTo>
                    <a:pt x="98" y="354"/>
                  </a:lnTo>
                  <a:cubicBezTo>
                    <a:pt x="98" y="372"/>
                    <a:pt x="80" y="390"/>
                    <a:pt x="62" y="390"/>
                  </a:cubicBezTo>
                  <a:cubicBezTo>
                    <a:pt x="44" y="390"/>
                    <a:pt x="27" y="372"/>
                    <a:pt x="27" y="354"/>
                  </a:cubicBezTo>
                  <a:cubicBezTo>
                    <a:pt x="27" y="337"/>
                    <a:pt x="44" y="319"/>
                    <a:pt x="62" y="319"/>
                  </a:cubicBezTo>
                  <a:cubicBezTo>
                    <a:pt x="80" y="319"/>
                    <a:pt x="98" y="337"/>
                    <a:pt x="98" y="354"/>
                  </a:cubicBezTo>
                  <a:close/>
                  <a:moveTo>
                    <a:pt x="62" y="88"/>
                  </a:moveTo>
                  <a:lnTo>
                    <a:pt x="62" y="88"/>
                  </a:lnTo>
                  <a:cubicBezTo>
                    <a:pt x="44" y="88"/>
                    <a:pt x="27" y="80"/>
                    <a:pt x="27" y="62"/>
                  </a:cubicBezTo>
                  <a:cubicBezTo>
                    <a:pt x="27" y="35"/>
                    <a:pt x="44" y="27"/>
                    <a:pt x="62" y="27"/>
                  </a:cubicBezTo>
                  <a:cubicBezTo>
                    <a:pt x="80" y="27"/>
                    <a:pt x="98" y="35"/>
                    <a:pt x="98" y="62"/>
                  </a:cubicBezTo>
                  <a:cubicBezTo>
                    <a:pt x="98" y="80"/>
                    <a:pt x="80" y="88"/>
                    <a:pt x="62" y="88"/>
                  </a:cubicBezTo>
                  <a:close/>
                  <a:moveTo>
                    <a:pt x="284" y="301"/>
                  </a:moveTo>
                  <a:lnTo>
                    <a:pt x="284" y="301"/>
                  </a:lnTo>
                  <a:cubicBezTo>
                    <a:pt x="284" y="115"/>
                    <a:pt x="284" y="115"/>
                    <a:pt x="284" y="115"/>
                  </a:cubicBezTo>
                  <a:cubicBezTo>
                    <a:pt x="302" y="106"/>
                    <a:pt x="319" y="80"/>
                    <a:pt x="319" y="62"/>
                  </a:cubicBezTo>
                  <a:cubicBezTo>
                    <a:pt x="319" y="27"/>
                    <a:pt x="292" y="0"/>
                    <a:pt x="257" y="0"/>
                  </a:cubicBezTo>
                  <a:cubicBezTo>
                    <a:pt x="221" y="0"/>
                    <a:pt x="195" y="27"/>
                    <a:pt x="195" y="62"/>
                  </a:cubicBezTo>
                  <a:cubicBezTo>
                    <a:pt x="195" y="80"/>
                    <a:pt x="212" y="106"/>
                    <a:pt x="239" y="115"/>
                  </a:cubicBezTo>
                  <a:cubicBezTo>
                    <a:pt x="239" y="301"/>
                    <a:pt x="239" y="301"/>
                    <a:pt x="239" y="301"/>
                  </a:cubicBezTo>
                  <a:cubicBezTo>
                    <a:pt x="212" y="310"/>
                    <a:pt x="195" y="328"/>
                    <a:pt x="195" y="354"/>
                  </a:cubicBezTo>
                  <a:cubicBezTo>
                    <a:pt x="195" y="390"/>
                    <a:pt x="221" y="416"/>
                    <a:pt x="257" y="416"/>
                  </a:cubicBezTo>
                  <a:cubicBezTo>
                    <a:pt x="292" y="416"/>
                    <a:pt x="319" y="390"/>
                    <a:pt x="319" y="354"/>
                  </a:cubicBezTo>
                  <a:cubicBezTo>
                    <a:pt x="319" y="328"/>
                    <a:pt x="302" y="310"/>
                    <a:pt x="284" y="301"/>
                  </a:cubicBezTo>
                  <a:close/>
                  <a:moveTo>
                    <a:pt x="221" y="62"/>
                  </a:moveTo>
                  <a:lnTo>
                    <a:pt x="221" y="62"/>
                  </a:lnTo>
                  <a:cubicBezTo>
                    <a:pt x="221" y="35"/>
                    <a:pt x="239" y="27"/>
                    <a:pt x="257" y="27"/>
                  </a:cubicBezTo>
                  <a:cubicBezTo>
                    <a:pt x="275" y="27"/>
                    <a:pt x="292" y="35"/>
                    <a:pt x="292" y="62"/>
                  </a:cubicBezTo>
                  <a:cubicBezTo>
                    <a:pt x="292" y="80"/>
                    <a:pt x="275" y="88"/>
                    <a:pt x="257" y="88"/>
                  </a:cubicBezTo>
                  <a:cubicBezTo>
                    <a:pt x="239" y="88"/>
                    <a:pt x="221" y="80"/>
                    <a:pt x="221" y="62"/>
                  </a:cubicBezTo>
                  <a:close/>
                  <a:moveTo>
                    <a:pt x="257" y="390"/>
                  </a:moveTo>
                  <a:lnTo>
                    <a:pt x="257" y="390"/>
                  </a:lnTo>
                  <a:cubicBezTo>
                    <a:pt x="239" y="390"/>
                    <a:pt x="221" y="372"/>
                    <a:pt x="221" y="354"/>
                  </a:cubicBezTo>
                  <a:cubicBezTo>
                    <a:pt x="221" y="337"/>
                    <a:pt x="239" y="319"/>
                    <a:pt x="257" y="319"/>
                  </a:cubicBezTo>
                  <a:cubicBezTo>
                    <a:pt x="275" y="319"/>
                    <a:pt x="292" y="337"/>
                    <a:pt x="292" y="354"/>
                  </a:cubicBezTo>
                  <a:cubicBezTo>
                    <a:pt x="292" y="372"/>
                    <a:pt x="275" y="390"/>
                    <a:pt x="257" y="3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p>
              <a:pPr algn="ctr"/>
            </a:p>
          </p:txBody>
        </p:sp>
      </p:grpSp>
      <p:sp>
        <p:nvSpPr>
          <p:cNvPr id="57" name="îşlîḍè"/>
          <p:cNvSpPr/>
          <p:nvPr/>
        </p:nvSpPr>
        <p:spPr>
          <a:xfrm>
            <a:off x="1632774" y="4489936"/>
            <a:ext cx="3361288" cy="372391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p>
            <a:r>
              <a:rPr lang="zh-CN" altLang="en-US" sz="2000" b="1">
                <a:solidFill>
                  <a:schemeClr val="accent4"/>
                </a:solidFill>
              </a:rPr>
              <a:t>发送消息</a:t>
            </a:r>
            <a:endParaRPr lang="zh-CN" altLang="en-US" sz="2000" b="1">
              <a:solidFill>
                <a:schemeClr val="accent4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48155" y="4845050"/>
            <a:ext cx="9265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rt_mq_send</a:t>
            </a:r>
            <a:r>
              <a:rPr lang="zh-CN" altLang="en-US"/>
              <a:t>(rt_mq_t mq, void *buffer, rt_size_t size)</a:t>
            </a:r>
            <a:endParaRPr lang="zh-CN" altLang="en-US"/>
          </a:p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rt_mq_urgent</a:t>
            </a:r>
            <a:r>
              <a:rPr lang="zh-CN" altLang="en-US"/>
              <a:t>(rt_mq_t mq, void *buffer, rt_size_t size)</a:t>
            </a:r>
            <a:endParaRPr lang="zh-CN" altLang="en-US"/>
          </a:p>
        </p:txBody>
      </p:sp>
      <p:grpSp>
        <p:nvGrpSpPr>
          <p:cNvPr id="7" name="îSľîḋé"/>
          <p:cNvGrpSpPr/>
          <p:nvPr/>
        </p:nvGrpSpPr>
        <p:grpSpPr>
          <a:xfrm>
            <a:off x="866644" y="5546700"/>
            <a:ext cx="764860" cy="765060"/>
            <a:chOff x="6356794" y="4841144"/>
            <a:chExt cx="764860" cy="765060"/>
          </a:xfrm>
        </p:grpSpPr>
        <p:sp>
          <p:nvSpPr>
            <p:cNvPr id="9" name="íŝlïďê"/>
            <p:cNvSpPr/>
            <p:nvPr/>
          </p:nvSpPr>
          <p:spPr bwMode="auto">
            <a:xfrm>
              <a:off x="6356794" y="4841144"/>
              <a:ext cx="764860" cy="7650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</a:p>
          </p:txBody>
        </p:sp>
        <p:sp>
          <p:nvSpPr>
            <p:cNvPr id="12" name="iṧḻidê"/>
            <p:cNvSpPr/>
            <p:nvPr/>
          </p:nvSpPr>
          <p:spPr bwMode="auto">
            <a:xfrm>
              <a:off x="6602877" y="5046238"/>
              <a:ext cx="272695" cy="354873"/>
            </a:xfrm>
            <a:custGeom>
              <a:avLst/>
              <a:gdLst>
                <a:gd name="T0" fmla="*/ 115 w 320"/>
                <a:gd name="T1" fmla="*/ 62 h 417"/>
                <a:gd name="T2" fmla="*/ 115 w 320"/>
                <a:gd name="T3" fmla="*/ 62 h 417"/>
                <a:gd name="T4" fmla="*/ 62 w 320"/>
                <a:gd name="T5" fmla="*/ 0 h 417"/>
                <a:gd name="T6" fmla="*/ 0 w 320"/>
                <a:gd name="T7" fmla="*/ 62 h 417"/>
                <a:gd name="T8" fmla="*/ 36 w 320"/>
                <a:gd name="T9" fmla="*/ 115 h 417"/>
                <a:gd name="T10" fmla="*/ 36 w 320"/>
                <a:gd name="T11" fmla="*/ 301 h 417"/>
                <a:gd name="T12" fmla="*/ 0 w 320"/>
                <a:gd name="T13" fmla="*/ 354 h 417"/>
                <a:gd name="T14" fmla="*/ 62 w 320"/>
                <a:gd name="T15" fmla="*/ 416 h 417"/>
                <a:gd name="T16" fmla="*/ 115 w 320"/>
                <a:gd name="T17" fmla="*/ 354 h 417"/>
                <a:gd name="T18" fmla="*/ 80 w 320"/>
                <a:gd name="T19" fmla="*/ 301 h 417"/>
                <a:gd name="T20" fmla="*/ 80 w 320"/>
                <a:gd name="T21" fmla="*/ 115 h 417"/>
                <a:gd name="T22" fmla="*/ 115 w 320"/>
                <a:gd name="T23" fmla="*/ 62 h 417"/>
                <a:gd name="T24" fmla="*/ 98 w 320"/>
                <a:gd name="T25" fmla="*/ 354 h 417"/>
                <a:gd name="T26" fmla="*/ 98 w 320"/>
                <a:gd name="T27" fmla="*/ 354 h 417"/>
                <a:gd name="T28" fmla="*/ 62 w 320"/>
                <a:gd name="T29" fmla="*/ 390 h 417"/>
                <a:gd name="T30" fmla="*/ 27 w 320"/>
                <a:gd name="T31" fmla="*/ 354 h 417"/>
                <a:gd name="T32" fmla="*/ 62 w 320"/>
                <a:gd name="T33" fmla="*/ 319 h 417"/>
                <a:gd name="T34" fmla="*/ 98 w 320"/>
                <a:gd name="T35" fmla="*/ 354 h 417"/>
                <a:gd name="T36" fmla="*/ 62 w 320"/>
                <a:gd name="T37" fmla="*/ 88 h 417"/>
                <a:gd name="T38" fmla="*/ 62 w 320"/>
                <a:gd name="T39" fmla="*/ 88 h 417"/>
                <a:gd name="T40" fmla="*/ 27 w 320"/>
                <a:gd name="T41" fmla="*/ 62 h 417"/>
                <a:gd name="T42" fmla="*/ 62 w 320"/>
                <a:gd name="T43" fmla="*/ 27 h 417"/>
                <a:gd name="T44" fmla="*/ 98 w 320"/>
                <a:gd name="T45" fmla="*/ 62 h 417"/>
                <a:gd name="T46" fmla="*/ 62 w 320"/>
                <a:gd name="T47" fmla="*/ 88 h 417"/>
                <a:gd name="T48" fmla="*/ 284 w 320"/>
                <a:gd name="T49" fmla="*/ 301 h 417"/>
                <a:gd name="T50" fmla="*/ 284 w 320"/>
                <a:gd name="T51" fmla="*/ 301 h 417"/>
                <a:gd name="T52" fmla="*/ 284 w 320"/>
                <a:gd name="T53" fmla="*/ 115 h 417"/>
                <a:gd name="T54" fmla="*/ 319 w 320"/>
                <a:gd name="T55" fmla="*/ 62 h 417"/>
                <a:gd name="T56" fmla="*/ 257 w 320"/>
                <a:gd name="T57" fmla="*/ 0 h 417"/>
                <a:gd name="T58" fmla="*/ 195 w 320"/>
                <a:gd name="T59" fmla="*/ 62 h 417"/>
                <a:gd name="T60" fmla="*/ 239 w 320"/>
                <a:gd name="T61" fmla="*/ 115 h 417"/>
                <a:gd name="T62" fmla="*/ 239 w 320"/>
                <a:gd name="T63" fmla="*/ 301 h 417"/>
                <a:gd name="T64" fmla="*/ 195 w 320"/>
                <a:gd name="T65" fmla="*/ 354 h 417"/>
                <a:gd name="T66" fmla="*/ 257 w 320"/>
                <a:gd name="T67" fmla="*/ 416 h 417"/>
                <a:gd name="T68" fmla="*/ 319 w 320"/>
                <a:gd name="T69" fmla="*/ 354 h 417"/>
                <a:gd name="T70" fmla="*/ 284 w 320"/>
                <a:gd name="T71" fmla="*/ 301 h 417"/>
                <a:gd name="T72" fmla="*/ 221 w 320"/>
                <a:gd name="T73" fmla="*/ 62 h 417"/>
                <a:gd name="T74" fmla="*/ 221 w 320"/>
                <a:gd name="T75" fmla="*/ 62 h 417"/>
                <a:gd name="T76" fmla="*/ 257 w 320"/>
                <a:gd name="T77" fmla="*/ 27 h 417"/>
                <a:gd name="T78" fmla="*/ 292 w 320"/>
                <a:gd name="T79" fmla="*/ 62 h 417"/>
                <a:gd name="T80" fmla="*/ 257 w 320"/>
                <a:gd name="T81" fmla="*/ 88 h 417"/>
                <a:gd name="T82" fmla="*/ 221 w 320"/>
                <a:gd name="T83" fmla="*/ 62 h 417"/>
                <a:gd name="T84" fmla="*/ 257 w 320"/>
                <a:gd name="T85" fmla="*/ 390 h 417"/>
                <a:gd name="T86" fmla="*/ 257 w 320"/>
                <a:gd name="T87" fmla="*/ 390 h 417"/>
                <a:gd name="T88" fmla="*/ 221 w 320"/>
                <a:gd name="T89" fmla="*/ 354 h 417"/>
                <a:gd name="T90" fmla="*/ 257 w 320"/>
                <a:gd name="T91" fmla="*/ 319 h 417"/>
                <a:gd name="T92" fmla="*/ 292 w 320"/>
                <a:gd name="T93" fmla="*/ 354 h 417"/>
                <a:gd name="T94" fmla="*/ 257 w 320"/>
                <a:gd name="T95" fmla="*/ 3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0" h="417">
                  <a:moveTo>
                    <a:pt x="115" y="62"/>
                  </a:moveTo>
                  <a:lnTo>
                    <a:pt x="115" y="62"/>
                  </a:lnTo>
                  <a:cubicBezTo>
                    <a:pt x="115" y="27"/>
                    <a:pt x="89" y="0"/>
                    <a:pt x="62" y="0"/>
                  </a:cubicBezTo>
                  <a:cubicBezTo>
                    <a:pt x="27" y="0"/>
                    <a:pt x="0" y="27"/>
                    <a:pt x="0" y="62"/>
                  </a:cubicBezTo>
                  <a:cubicBezTo>
                    <a:pt x="0" y="80"/>
                    <a:pt x="18" y="106"/>
                    <a:pt x="36" y="115"/>
                  </a:cubicBezTo>
                  <a:cubicBezTo>
                    <a:pt x="36" y="301"/>
                    <a:pt x="36" y="301"/>
                    <a:pt x="36" y="301"/>
                  </a:cubicBezTo>
                  <a:cubicBezTo>
                    <a:pt x="18" y="310"/>
                    <a:pt x="0" y="328"/>
                    <a:pt x="0" y="354"/>
                  </a:cubicBezTo>
                  <a:cubicBezTo>
                    <a:pt x="0" y="390"/>
                    <a:pt x="27" y="416"/>
                    <a:pt x="62" y="416"/>
                  </a:cubicBezTo>
                  <a:cubicBezTo>
                    <a:pt x="89" y="416"/>
                    <a:pt x="115" y="390"/>
                    <a:pt x="115" y="354"/>
                  </a:cubicBezTo>
                  <a:cubicBezTo>
                    <a:pt x="115" y="328"/>
                    <a:pt x="106" y="310"/>
                    <a:pt x="80" y="301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106" y="106"/>
                    <a:pt x="115" y="80"/>
                    <a:pt x="115" y="62"/>
                  </a:cubicBezTo>
                  <a:close/>
                  <a:moveTo>
                    <a:pt x="98" y="354"/>
                  </a:moveTo>
                  <a:lnTo>
                    <a:pt x="98" y="354"/>
                  </a:lnTo>
                  <a:cubicBezTo>
                    <a:pt x="98" y="372"/>
                    <a:pt x="80" y="390"/>
                    <a:pt x="62" y="390"/>
                  </a:cubicBezTo>
                  <a:cubicBezTo>
                    <a:pt x="44" y="390"/>
                    <a:pt x="27" y="372"/>
                    <a:pt x="27" y="354"/>
                  </a:cubicBezTo>
                  <a:cubicBezTo>
                    <a:pt x="27" y="337"/>
                    <a:pt x="44" y="319"/>
                    <a:pt x="62" y="319"/>
                  </a:cubicBezTo>
                  <a:cubicBezTo>
                    <a:pt x="80" y="319"/>
                    <a:pt x="98" y="337"/>
                    <a:pt x="98" y="354"/>
                  </a:cubicBezTo>
                  <a:close/>
                  <a:moveTo>
                    <a:pt x="62" y="88"/>
                  </a:moveTo>
                  <a:lnTo>
                    <a:pt x="62" y="88"/>
                  </a:lnTo>
                  <a:cubicBezTo>
                    <a:pt x="44" y="88"/>
                    <a:pt x="27" y="80"/>
                    <a:pt x="27" y="62"/>
                  </a:cubicBezTo>
                  <a:cubicBezTo>
                    <a:pt x="27" y="35"/>
                    <a:pt x="44" y="27"/>
                    <a:pt x="62" y="27"/>
                  </a:cubicBezTo>
                  <a:cubicBezTo>
                    <a:pt x="80" y="27"/>
                    <a:pt x="98" y="35"/>
                    <a:pt x="98" y="62"/>
                  </a:cubicBezTo>
                  <a:cubicBezTo>
                    <a:pt x="98" y="80"/>
                    <a:pt x="80" y="88"/>
                    <a:pt x="62" y="88"/>
                  </a:cubicBezTo>
                  <a:close/>
                  <a:moveTo>
                    <a:pt x="284" y="301"/>
                  </a:moveTo>
                  <a:lnTo>
                    <a:pt x="284" y="301"/>
                  </a:lnTo>
                  <a:cubicBezTo>
                    <a:pt x="284" y="115"/>
                    <a:pt x="284" y="115"/>
                    <a:pt x="284" y="115"/>
                  </a:cubicBezTo>
                  <a:cubicBezTo>
                    <a:pt x="302" y="106"/>
                    <a:pt x="319" y="80"/>
                    <a:pt x="319" y="62"/>
                  </a:cubicBezTo>
                  <a:cubicBezTo>
                    <a:pt x="319" y="27"/>
                    <a:pt x="292" y="0"/>
                    <a:pt x="257" y="0"/>
                  </a:cubicBezTo>
                  <a:cubicBezTo>
                    <a:pt x="221" y="0"/>
                    <a:pt x="195" y="27"/>
                    <a:pt x="195" y="62"/>
                  </a:cubicBezTo>
                  <a:cubicBezTo>
                    <a:pt x="195" y="80"/>
                    <a:pt x="212" y="106"/>
                    <a:pt x="239" y="115"/>
                  </a:cubicBezTo>
                  <a:cubicBezTo>
                    <a:pt x="239" y="301"/>
                    <a:pt x="239" y="301"/>
                    <a:pt x="239" y="301"/>
                  </a:cubicBezTo>
                  <a:cubicBezTo>
                    <a:pt x="212" y="310"/>
                    <a:pt x="195" y="328"/>
                    <a:pt x="195" y="354"/>
                  </a:cubicBezTo>
                  <a:cubicBezTo>
                    <a:pt x="195" y="390"/>
                    <a:pt x="221" y="416"/>
                    <a:pt x="257" y="416"/>
                  </a:cubicBezTo>
                  <a:cubicBezTo>
                    <a:pt x="292" y="416"/>
                    <a:pt x="319" y="390"/>
                    <a:pt x="319" y="354"/>
                  </a:cubicBezTo>
                  <a:cubicBezTo>
                    <a:pt x="319" y="328"/>
                    <a:pt x="302" y="310"/>
                    <a:pt x="284" y="301"/>
                  </a:cubicBezTo>
                  <a:close/>
                  <a:moveTo>
                    <a:pt x="221" y="62"/>
                  </a:moveTo>
                  <a:lnTo>
                    <a:pt x="221" y="62"/>
                  </a:lnTo>
                  <a:cubicBezTo>
                    <a:pt x="221" y="35"/>
                    <a:pt x="239" y="27"/>
                    <a:pt x="257" y="27"/>
                  </a:cubicBezTo>
                  <a:cubicBezTo>
                    <a:pt x="275" y="27"/>
                    <a:pt x="292" y="35"/>
                    <a:pt x="292" y="62"/>
                  </a:cubicBezTo>
                  <a:cubicBezTo>
                    <a:pt x="292" y="80"/>
                    <a:pt x="275" y="88"/>
                    <a:pt x="257" y="88"/>
                  </a:cubicBezTo>
                  <a:cubicBezTo>
                    <a:pt x="239" y="88"/>
                    <a:pt x="221" y="80"/>
                    <a:pt x="221" y="62"/>
                  </a:cubicBezTo>
                  <a:close/>
                  <a:moveTo>
                    <a:pt x="257" y="390"/>
                  </a:moveTo>
                  <a:lnTo>
                    <a:pt x="257" y="390"/>
                  </a:lnTo>
                  <a:cubicBezTo>
                    <a:pt x="239" y="390"/>
                    <a:pt x="221" y="372"/>
                    <a:pt x="221" y="354"/>
                  </a:cubicBezTo>
                  <a:cubicBezTo>
                    <a:pt x="221" y="337"/>
                    <a:pt x="239" y="319"/>
                    <a:pt x="257" y="319"/>
                  </a:cubicBezTo>
                  <a:cubicBezTo>
                    <a:pt x="275" y="319"/>
                    <a:pt x="292" y="337"/>
                    <a:pt x="292" y="354"/>
                  </a:cubicBezTo>
                  <a:cubicBezTo>
                    <a:pt x="292" y="372"/>
                    <a:pt x="275" y="390"/>
                    <a:pt x="257" y="3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p>
              <a:pPr algn="ctr"/>
            </a:p>
          </p:txBody>
        </p:sp>
      </p:grpSp>
      <p:sp>
        <p:nvSpPr>
          <p:cNvPr id="13" name="îşlîḍè"/>
          <p:cNvSpPr/>
          <p:nvPr/>
        </p:nvSpPr>
        <p:spPr>
          <a:xfrm>
            <a:off x="1632774" y="5751681"/>
            <a:ext cx="3361288" cy="372391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p>
            <a:r>
              <a:rPr lang="zh-CN" altLang="en-US" sz="2000" b="1">
                <a:solidFill>
                  <a:schemeClr val="accent4"/>
                </a:solidFill>
              </a:rPr>
              <a:t>接收消息</a:t>
            </a:r>
            <a:endParaRPr lang="zh-CN" altLang="en-US" sz="2000" b="1">
              <a:solidFill>
                <a:schemeClr val="accent4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48155" y="6123940"/>
            <a:ext cx="926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rt_mq_recv</a:t>
            </a:r>
            <a:r>
              <a:rPr lang="zh-CN" altLang="en-US"/>
              <a:t>(rt_mq_t  mq,   void *buffer,   rt_size_t  size,   rt_int32_t   timeout)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558145" y="2887345"/>
            <a:ext cx="146113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1200">
                <a:solidFill>
                  <a:schemeClr val="accent2"/>
                </a:solidFill>
                <a:sym typeface="+mn-ea"/>
              </a:rPr>
              <a:t> 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RT_IPC_FLAG_FIFO  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  <a:p>
            <a:r>
              <a:rPr lang="zh-CN" altLang="en-US" sz="1200">
                <a:solidFill>
                  <a:schemeClr val="accent2"/>
                </a:solidFill>
                <a:sym typeface="+mn-ea"/>
              </a:rPr>
              <a:t> RT_IPC_FLAG_PRIO</a:t>
            </a:r>
            <a:endParaRPr lang="zh-CN" altLang="en-US" sz="1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60" name="墨迹 59"/>
              <p14:cNvContentPartPr/>
              <p14:nvPr/>
            </p14:nvContentPartPr>
            <p14:xfrm>
              <a:off x="10593070" y="3946525"/>
              <a:ext cx="276860" cy="8890"/>
            </p14:xfrm>
          </p:contentPart>
        </mc:Choice>
        <mc:Fallback xmlns="">
          <p:pic>
            <p:nvPicPr>
              <p:cNvPr id="60" name="墨迹 59"/>
            </p:nvPicPr>
            <p:blipFill>
              <a:blip r:embed="rId2"/>
            </p:blipFill>
            <p:spPr>
              <a:xfrm>
                <a:off x="10593070" y="3946525"/>
                <a:ext cx="276860" cy="889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543"/>
          <p:cNvSpPr txBox="1">
            <a:spLocks noGrp="1"/>
          </p:cNvSpPr>
          <p:nvPr>
            <p:ph type="body" idx="1"/>
          </p:nvPr>
        </p:nvSpPr>
        <p:spPr>
          <a:xfrm>
            <a:off x="2423795" y="2407192"/>
            <a:ext cx="8229600" cy="2043600"/>
          </a:xfrm>
          <a:prstGeom prst="rect">
            <a:avLst/>
          </a:prstGeom>
        </p:spPr>
        <p:txBody>
          <a:bodyPr vert="horz" lIns="91425" tIns="91425" rIns="91425" bIns="91425" rtlCol="0" anchor="ctr" anchorCtr="0">
            <a:noAutofit/>
          </a:bodyPr>
          <a:lstStyle/>
          <a:p>
            <a:r>
              <a:rPr lang="zh-CN" dirty="0"/>
              <a:t>消息队列使用示例</a:t>
            </a:r>
            <a:endParaRPr lang="zh-C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9449435" y="5572125"/>
              <a:ext cx="17780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9449435" y="5572125"/>
                <a:ext cx="1778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9449435" y="5572125"/>
              <a:ext cx="17780" cy="36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2"/>
            </p:blipFill>
            <p:spPr>
              <a:xfrm>
                <a:off x="9449435" y="5572125"/>
                <a:ext cx="17780" cy="360"/>
              </a:xfrm>
              <a:prstGeom prst="rect"/>
            </p:spPr>
          </p:pic>
        </mc:Fallback>
      </mc:AlternateContent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1899</Words>
  <Application>WPS 演示</Application>
  <PresentationFormat>宽屏</PresentationFormat>
  <Paragraphs>60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Arial Unicode MS</vt:lpstr>
      <vt:lpstr>Calibri</vt:lpstr>
      <vt:lpstr>微软雅黑</vt:lpstr>
      <vt:lpstr>Arial Unicode MS</vt:lpstr>
      <vt:lpstr>等线</vt:lpstr>
      <vt:lpstr>Custom Design</vt:lpstr>
      <vt:lpstr>RT-Thread入门系列视频教程</vt:lpstr>
      <vt:lpstr>消息队列工作机制</vt:lpstr>
      <vt:lpstr>消息队列控制块</vt:lpstr>
      <vt:lpstr>消息队列的操作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pxxiong</dc:creator>
  <cp:lastModifiedBy>Wk</cp:lastModifiedBy>
  <cp:revision>218</cp:revision>
  <dcterms:created xsi:type="dcterms:W3CDTF">2014-06-30T01:36:00Z</dcterms:created>
  <dcterms:modified xsi:type="dcterms:W3CDTF">2018-12-16T08:45:03Z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2052-10.1.0.7697</vt:lpwstr>
  </property>
</Properties>
</file>