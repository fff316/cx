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8" r:id="rId3"/>
    <p:sldId id="396" r:id="rId4"/>
    <p:sldId id="373" r:id="rId6"/>
    <p:sldId id="338" r:id="rId7"/>
    <p:sldId id="355" r:id="rId8"/>
    <p:sldId id="356" r:id="rId9"/>
    <p:sldId id="357" r:id="rId10"/>
    <p:sldId id="393" r:id="rId11"/>
    <p:sldId id="394" r:id="rId12"/>
    <p:sldId id="395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324" y="4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46F4B9-E833-452C-BAB3-A32CAEA9F5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8CFAC-F816-40AD-A33C-FCF3FC1EA0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4330" y="1558459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9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dd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3"/>
          <p:cNvSpPr/>
          <p:nvPr userDrawn="1"/>
        </p:nvSpPr>
        <p:spPr>
          <a:xfrm>
            <a:off x="0" y="0"/>
            <a:ext cx="12192000" cy="468052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16" name="Shape 14"/>
          <p:cNvCxnSpPr/>
          <p:nvPr userDrawn="1"/>
        </p:nvCxnSpPr>
        <p:spPr>
          <a:xfrm>
            <a:off x="0" y="4653136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Shape 10"/>
          <p:cNvSpPr txBox="1">
            <a:spLocks noGrp="1"/>
          </p:cNvSpPr>
          <p:nvPr>
            <p:ph type="ctrTitle"/>
          </p:nvPr>
        </p:nvSpPr>
        <p:spPr>
          <a:xfrm>
            <a:off x="3894928" y="2490375"/>
            <a:ext cx="7382672" cy="21984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buSzPct val="100000"/>
              <a:defRPr sz="7200"/>
            </a:lvl1pPr>
            <a:lvl2pPr>
              <a:spcBef>
                <a:spcPts val="0"/>
              </a:spcBef>
              <a:buSzPct val="100000"/>
              <a:defRPr sz="7200"/>
            </a:lvl2pPr>
            <a:lvl3pPr>
              <a:spcBef>
                <a:spcPts val="0"/>
              </a:spcBef>
              <a:buSzPct val="100000"/>
              <a:defRPr sz="7200"/>
            </a:lvl3pPr>
            <a:lvl4pPr>
              <a:spcBef>
                <a:spcPts val="0"/>
              </a:spcBef>
              <a:buSzPct val="100000"/>
              <a:defRPr sz="7200"/>
            </a:lvl4pPr>
            <a:lvl5pPr>
              <a:spcBef>
                <a:spcPts val="0"/>
              </a:spcBef>
              <a:buSzPct val="100000"/>
              <a:defRPr sz="7200"/>
            </a:lvl5pPr>
            <a:lvl6pPr>
              <a:spcBef>
                <a:spcPts val="0"/>
              </a:spcBef>
              <a:buSzPct val="100000"/>
              <a:defRPr sz="7200"/>
            </a:lvl6pPr>
            <a:lvl7pPr>
              <a:spcBef>
                <a:spcPts val="0"/>
              </a:spcBef>
              <a:buSzPct val="100000"/>
              <a:defRPr sz="7200"/>
            </a:lvl7pPr>
            <a:lvl8pPr>
              <a:spcBef>
                <a:spcPts val="0"/>
              </a:spcBef>
              <a:buSzPct val="100000"/>
              <a:defRPr sz="7200"/>
            </a:lvl8pPr>
            <a:lvl9pPr>
              <a:spcBef>
                <a:spcPts val="0"/>
              </a:spcBef>
              <a:buSzPct val="100000"/>
              <a:defRPr sz="7200"/>
            </a:lvl9pPr>
          </a:lstStyle>
          <a:p>
            <a:endParaRPr dirty="0"/>
          </a:p>
        </p:txBody>
      </p:sp>
      <p:sp>
        <p:nvSpPr>
          <p:cNvPr id="19" name="Shape 11"/>
          <p:cNvSpPr txBox="1">
            <a:spLocks noGrp="1"/>
          </p:cNvSpPr>
          <p:nvPr>
            <p:ph type="subTitle" idx="1"/>
          </p:nvPr>
        </p:nvSpPr>
        <p:spPr>
          <a:xfrm>
            <a:off x="3894928" y="4836036"/>
            <a:ext cx="7382672" cy="1032599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>
              <a:spcBef>
                <a:spcPts val="0"/>
              </a:spcBef>
              <a:buClr>
                <a:schemeClr val="dk2"/>
              </a:buClr>
              <a:buNone/>
              <a:defRPr sz="2000">
                <a:solidFill>
                  <a:schemeClr val="dk2"/>
                </a:solidFill>
              </a:defRPr>
            </a:lvl1pPr>
            <a:lvl2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2pPr>
            <a:lvl3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3pPr>
            <a:lvl4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4pPr>
            <a:lvl5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5pPr>
            <a:lvl6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6pPr>
            <a:lvl7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7pPr>
            <a:lvl8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8pPr>
            <a:lvl9pPr>
              <a:spcBef>
                <a:spcPts val="0"/>
              </a:spcBef>
              <a:buClr>
                <a:schemeClr val="dk2"/>
              </a:buClr>
              <a:buSzPct val="100000"/>
              <a:buNone/>
              <a:defRPr sz="3000">
                <a:solidFill>
                  <a:schemeClr val="dk2"/>
                </a:solidFill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88DB"/>
              </a:buClr>
              <a:buSzTx/>
              <a:buFontTx/>
              <a:buNone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2388DB"/>
              </a:solidFill>
              <a:effectLst/>
              <a:uLnTx/>
              <a:uFillTx/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1199456" y="1268760"/>
            <a:ext cx="976857" cy="976857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7" name="同心圆 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9" name="椭圆 8"/>
          <p:cNvSpPr/>
          <p:nvPr userDrawn="1"/>
        </p:nvSpPr>
        <p:spPr>
          <a:xfrm>
            <a:off x="784766" y="2198934"/>
            <a:ext cx="727041" cy="72704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/>
        </p:nvSpPr>
        <p:spPr>
          <a:xfrm>
            <a:off x="2626189" y="2227954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2354788" y="1740961"/>
            <a:ext cx="623903" cy="62390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12" name="同心圆 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473432" y="3406403"/>
            <a:ext cx="219777" cy="219777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18" name="同心圆 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198081" y="1830045"/>
            <a:ext cx="287919" cy="287919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22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椭圆 23"/>
          <p:cNvSpPr/>
          <p:nvPr userDrawn="1"/>
        </p:nvSpPr>
        <p:spPr>
          <a:xfrm>
            <a:off x="3066715" y="1740961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/>
        </p:nvSpPr>
        <p:spPr>
          <a:xfrm>
            <a:off x="3285708" y="3431530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" name="组合 25"/>
          <p:cNvGrpSpPr/>
          <p:nvPr userDrawn="1"/>
        </p:nvGrpSpPr>
        <p:grpSpPr>
          <a:xfrm>
            <a:off x="1670698" y="2400123"/>
            <a:ext cx="638246" cy="63824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7" name="同心圆 19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9" name="椭圆 28"/>
          <p:cNvSpPr/>
          <p:nvPr userDrawn="1"/>
        </p:nvSpPr>
        <p:spPr>
          <a:xfrm>
            <a:off x="1280239" y="554168"/>
            <a:ext cx="274777" cy="2747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/>
          <p:cNvSpPr/>
          <p:nvPr userDrawn="1"/>
        </p:nvSpPr>
        <p:spPr>
          <a:xfrm>
            <a:off x="1989821" y="2417032"/>
            <a:ext cx="137389" cy="13738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 userDrawn="1"/>
        </p:nvGrpSpPr>
        <p:grpSpPr>
          <a:xfrm>
            <a:off x="864559" y="947680"/>
            <a:ext cx="1958738" cy="1958738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2" name="同心圆 2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4" grpId="0" animBg="1"/>
      <p:bldP spid="25" grpId="0" animBg="1"/>
      <p:bldP spid="29" grpId="0" animBg="1"/>
      <p:bldP spid="30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8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9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3"/>
          <p:cNvSpPr/>
          <p:nvPr userDrawn="1"/>
        </p:nvSpPr>
        <p:spPr>
          <a:xfrm>
            <a:off x="0" y="1"/>
            <a:ext cx="12192000" cy="1239754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32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cxnSp>
        <p:nvCxnSpPr>
          <p:cNvPr id="7" name="Shape 14"/>
          <p:cNvCxnSpPr/>
          <p:nvPr userDrawn="1"/>
        </p:nvCxnSpPr>
        <p:spPr>
          <a:xfrm>
            <a:off x="0" y="1230660"/>
            <a:ext cx="12192000" cy="0"/>
          </a:xfrm>
          <a:prstGeom prst="straightConnector1">
            <a:avLst/>
          </a:prstGeom>
          <a:noFill/>
          <a:ln w="57150" cap="flat">
            <a:solidFill>
              <a:srgbClr val="000000">
                <a:alpha val="14901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305863" y="6241257"/>
            <a:ext cx="1886137" cy="59531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26129" y="1559095"/>
            <a:ext cx="1098927" cy="3468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609600" y="3509631"/>
            <a:ext cx="10972800" cy="20436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algn="ctr">
              <a:spcBef>
                <a:spcPts val="0"/>
              </a:spcBef>
              <a:buClr>
                <a:schemeClr val="lt1"/>
              </a:buClr>
              <a:buSzPct val="100000"/>
              <a:buNone/>
              <a:defRPr sz="6000">
                <a:solidFill>
                  <a:schemeClr val="lt1"/>
                </a:solidFill>
              </a:defRPr>
            </a:lvl1pPr>
          </a:lstStyle>
          <a:p>
            <a:endParaRPr dirty="0"/>
          </a:p>
        </p:txBody>
      </p:sp>
      <p:sp>
        <p:nvSpPr>
          <p:cNvPr id="5" name="圆角矩形 107"/>
          <p:cNvSpPr/>
          <p:nvPr userDrawn="1"/>
        </p:nvSpPr>
        <p:spPr>
          <a:xfrm>
            <a:off x="2252995" y="1508721"/>
            <a:ext cx="944122" cy="447598"/>
          </a:xfrm>
          <a:prstGeom prst="roundRect">
            <a:avLst>
              <a:gd name="adj" fmla="val 15229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06400" dist="419100" dir="114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圆角矩形 110"/>
          <p:cNvSpPr/>
          <p:nvPr userDrawn="1"/>
        </p:nvSpPr>
        <p:spPr>
          <a:xfrm>
            <a:off x="2423592" y="2899640"/>
            <a:ext cx="240015" cy="225971"/>
          </a:xfrm>
          <a:prstGeom prst="roundRect">
            <a:avLst>
              <a:gd name="adj" fmla="val 121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圆角矩形 88"/>
          <p:cNvSpPr/>
          <p:nvPr userDrawn="1"/>
        </p:nvSpPr>
        <p:spPr>
          <a:xfrm>
            <a:off x="1107895" y="706623"/>
            <a:ext cx="451632" cy="409118"/>
          </a:xfrm>
          <a:prstGeom prst="roundRect">
            <a:avLst>
              <a:gd name="adj" fmla="val 12418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79000"/>
                  <a:lumOff val="21000"/>
                </a:schemeClr>
              </a:gs>
            </a:gsLst>
            <a:lin ang="13500000" scaled="1"/>
          </a:gradFill>
          <a:ln w="12700">
            <a:solidFill>
              <a:schemeClr val="bg1"/>
            </a:solidFill>
          </a:ln>
          <a:effectLst>
            <a:outerShdw blurRad="419100" dist="190500" dir="2700000" sx="90000" sy="90000" algn="tl" rotWithShape="0">
              <a:schemeClr val="tx1">
                <a:lumMod val="75000"/>
                <a:lumOff val="2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圆角矩形 89"/>
          <p:cNvSpPr/>
          <p:nvPr userDrawn="1"/>
        </p:nvSpPr>
        <p:spPr>
          <a:xfrm>
            <a:off x="956916" y="1788792"/>
            <a:ext cx="1085700" cy="1110848"/>
          </a:xfrm>
          <a:prstGeom prst="roundRect">
            <a:avLst>
              <a:gd name="adj" fmla="val 1522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1" name="圆角矩形 19"/>
          <p:cNvSpPr/>
          <p:nvPr userDrawn="1"/>
        </p:nvSpPr>
        <p:spPr>
          <a:xfrm>
            <a:off x="722088" y="2614483"/>
            <a:ext cx="581980" cy="582228"/>
          </a:xfrm>
          <a:prstGeom prst="roundRect">
            <a:avLst>
              <a:gd name="adj" fmla="val 21816"/>
            </a:avLst>
          </a:prstGeom>
          <a:solidFill>
            <a:schemeClr val="accent1"/>
          </a:soli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2" name="圆角矩形 84"/>
          <p:cNvSpPr/>
          <p:nvPr userDrawn="1"/>
        </p:nvSpPr>
        <p:spPr>
          <a:xfrm>
            <a:off x="2768463" y="565673"/>
            <a:ext cx="748190" cy="674114"/>
          </a:xfrm>
          <a:prstGeom prst="roundRect">
            <a:avLst>
              <a:gd name="adj" fmla="val 15972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69900" dir="2700000" sx="90000" sy="90000" algn="tl" rotWithShape="0">
              <a:schemeClr val="tx1">
                <a:lumMod val="50000"/>
                <a:lumOff val="50000"/>
                <a:alpha val="59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3" name="圆角矩形 20"/>
          <p:cNvSpPr/>
          <p:nvPr userDrawn="1"/>
        </p:nvSpPr>
        <p:spPr>
          <a:xfrm>
            <a:off x="1503364" y="1104266"/>
            <a:ext cx="1275046" cy="1273414"/>
          </a:xfrm>
          <a:prstGeom prst="roundRect">
            <a:avLst>
              <a:gd name="adj" fmla="val 8669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90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368300" dir="2700000" sx="90000" sy="90000" algn="tl" rotWithShape="0">
              <a:schemeClr val="tx1">
                <a:lumMod val="50000"/>
                <a:lumOff val="50000"/>
                <a:alpha val="4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圆角矩形 60"/>
          <p:cNvSpPr/>
          <p:nvPr userDrawn="1"/>
        </p:nvSpPr>
        <p:spPr>
          <a:xfrm>
            <a:off x="852595" y="451903"/>
            <a:ext cx="274388" cy="271246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571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圆角矩形 83"/>
          <p:cNvSpPr/>
          <p:nvPr userDrawn="1"/>
        </p:nvSpPr>
        <p:spPr>
          <a:xfrm>
            <a:off x="2735901" y="2382001"/>
            <a:ext cx="548776" cy="542492"/>
          </a:xfrm>
          <a:prstGeom prst="roundRect">
            <a:avLst>
              <a:gd name="adj" fmla="val 13750"/>
            </a:avLst>
          </a:prstGeom>
          <a:gradFill flip="none" rotWithShape="1">
            <a:gsLst>
              <a:gs pos="0">
                <a:schemeClr val="bg1"/>
              </a:gs>
              <a:gs pos="3600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13500000" scaled="1"/>
            <a:tileRect/>
          </a:gradFill>
          <a:ln w="19050">
            <a:solidFill>
              <a:schemeClr val="bg1"/>
            </a:solidFill>
          </a:ln>
          <a:effectLst>
            <a:outerShdw blurRad="419100" dist="444500" dir="2700000" sx="90000" sy="90000" algn="tl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1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16" dur="75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23" dur="75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2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23 -3.7037E-6 L -0.10885 -3.7037E-6 " pathEditMode="relative" rAng="0" ptsTypes="AA">
                                      <p:cBhvr>
                                        <p:cTn id="30" dur="75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211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01601 -3.7037E-6 L 8.33333E-7 -3.7037E-6 " pathEditMode="relative" rAng="0" ptsTypes="AA">
                                      <p:cBhvr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07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0.03981 L 3.125E-6 0.14815 " pathEditMode="relative" rAng="0" ptsTypes="AA">
                                      <p:cBhvr>
                                        <p:cTn id="37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9398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42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3.125E-6 -0.03981 L 3.125E-6 -3.7037E-6 " pathEditMode="relative" rAng="0" ptsTypes="AA">
                                      <p:cBhvr>
                                        <p:cTn id="3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91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63" presetClass="path" presetSubtype="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562 -3.7037E-6 L 0.11081 -3.7037E-6 " pathEditMode="relative" rAng="0" ptsTypes="AA">
                                      <p:cBhvr>
                                        <p:cTn id="44" dur="75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35" presetClass="path" presetSubtype="0" accel="50000" decel="5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0.01562 -3.7037E-6 L -2.29167E-6 -3.7037E-6 " pathEditMode="relative" rAng="0" ptsTypes="AA">
                                      <p:cBhvr>
                                        <p:cTn id="4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1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64" presetClass="path" presetSubtype="0" decel="3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3889 L -4.58333E-6 -0.14814 " pathEditMode="relative" rAng="0" ptsTypes="AA">
                                      <p:cBhvr>
                                        <p:cTn id="51" dur="75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9352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64" presetClass="path" presetSubtype="0" accel="30000" decel="30000" fill="hold" grpId="2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-4.58333E-6 0.03843 L -4.58333E-6 -3.7037E-6 " pathEditMode="relative" rAng="0" ptsTypes="AA">
                                      <p:cBhvr>
                                        <p:cTn id="5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921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7" grpId="0" animBg="1"/>
      <p:bldP spid="8" grpId="0" animBg="1"/>
      <p:bldP spid="8" grpId="1" animBg="1"/>
      <p:bldP spid="8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2" grpId="2" animBg="1"/>
      <p:bldP spid="13" grpId="0" animBg="1"/>
      <p:bldP spid="13" grpId="1" animBg="1"/>
      <p:bldP spid="13" grpId="2" animBg="1"/>
      <p:bldP spid="14" grpId="0" animBg="1"/>
      <p:bldP spid="14" grpId="1" animBg="1"/>
      <p:bldP spid="14" grpId="2" animBg="1"/>
      <p:bldP spid="16" grpId="0" animBg="1"/>
      <p:bldP spid="16" grpId="1" animBg="1"/>
      <p:bldP spid="16" grpId="2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pic>
        <p:nvPicPr>
          <p:cNvPr id="51" name="图片 5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8755" y="1776927"/>
            <a:ext cx="1622409" cy="51207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4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a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rgbClr val="2388DB"/>
          </a:solidFill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endParaRPr sz="1800"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920426" y="3641186"/>
            <a:ext cx="6278488" cy="1083958"/>
          </a:xfrm>
          <a:prstGeom prst="rect">
            <a:avLst/>
          </a:prstGeom>
        </p:spPr>
        <p:txBody>
          <a:bodyPr lIns="91425" tIns="91425" rIns="91425" bIns="91425" anchor="t" anchorCtr="0">
            <a:normAutofit/>
          </a:bodyPr>
          <a:lstStyle>
            <a:lvl1pPr algn="l">
              <a:spcBef>
                <a:spcPts val="0"/>
              </a:spcBef>
              <a:buClr>
                <a:schemeClr val="lt1"/>
              </a:buClr>
              <a:buSzPct val="100000"/>
              <a:buNone/>
              <a:defRPr sz="44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8794341" y="1112236"/>
            <a:ext cx="1958400" cy="1958400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28" name="同心圆 59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32" name="椭圆 31"/>
          <p:cNvSpPr/>
          <p:nvPr userDrawn="1"/>
        </p:nvSpPr>
        <p:spPr>
          <a:xfrm>
            <a:off x="11402664" y="1935398"/>
            <a:ext cx="494927" cy="494927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33" name="椭圆 32"/>
          <p:cNvSpPr/>
          <p:nvPr userDrawn="1"/>
        </p:nvSpPr>
        <p:spPr>
          <a:xfrm>
            <a:off x="9158018" y="270473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34" name="组合 33"/>
          <p:cNvGrpSpPr/>
          <p:nvPr userDrawn="1"/>
        </p:nvGrpSpPr>
        <p:grpSpPr>
          <a:xfrm>
            <a:off x="8582993" y="4198267"/>
            <a:ext cx="401506" cy="401506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35" name="同心圆 602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37" name="组合 36"/>
          <p:cNvGrpSpPr/>
          <p:nvPr userDrawn="1"/>
        </p:nvGrpSpPr>
        <p:grpSpPr>
          <a:xfrm>
            <a:off x="10890798" y="484292"/>
            <a:ext cx="832063" cy="832063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38" name="同心圆 605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0" name="组合 39"/>
          <p:cNvGrpSpPr/>
          <p:nvPr userDrawn="1"/>
        </p:nvGrpSpPr>
        <p:grpSpPr>
          <a:xfrm>
            <a:off x="9846441" y="3611394"/>
            <a:ext cx="383981" cy="383981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1" name="同心圆 611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sp>
        <p:nvSpPr>
          <p:cNvPr id="43" name="椭圆 42"/>
          <p:cNvSpPr/>
          <p:nvPr userDrawn="1"/>
        </p:nvSpPr>
        <p:spPr>
          <a:xfrm>
            <a:off x="11356407" y="5318332"/>
            <a:ext cx="366454" cy="36645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sp>
        <p:nvSpPr>
          <p:cNvPr id="44" name="椭圆 43"/>
          <p:cNvSpPr/>
          <p:nvPr userDrawn="1"/>
        </p:nvSpPr>
        <p:spPr>
          <a:xfrm>
            <a:off x="10138808" y="5012760"/>
            <a:ext cx="183228" cy="183228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/>
          </a:p>
        </p:txBody>
      </p:sp>
      <p:grpSp>
        <p:nvGrpSpPr>
          <p:cNvPr id="45" name="组合 44"/>
          <p:cNvGrpSpPr/>
          <p:nvPr userDrawn="1"/>
        </p:nvGrpSpPr>
        <p:grpSpPr>
          <a:xfrm>
            <a:off x="10573768" y="2953691"/>
            <a:ext cx="952206" cy="952206"/>
            <a:chOff x="304800" y="673100"/>
            <a:chExt cx="4000500" cy="4000500"/>
          </a:xfrm>
          <a:effectLst>
            <a:outerShdw blurRad="317500" dist="1905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6" name="同心圆 616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  <p:grpSp>
        <p:nvGrpSpPr>
          <p:cNvPr id="48" name="组合 47"/>
          <p:cNvGrpSpPr/>
          <p:nvPr userDrawn="1"/>
        </p:nvGrpSpPr>
        <p:grpSpPr>
          <a:xfrm>
            <a:off x="7699564" y="2267253"/>
            <a:ext cx="293104" cy="293104"/>
            <a:chOff x="304800" y="673100"/>
            <a:chExt cx="4000500" cy="4000500"/>
          </a:xfrm>
          <a:effectLst>
            <a:outerShdw blurRad="381000" dist="152400" dir="8100000" algn="tr" rotWithShape="0">
              <a:prstClr val="black">
                <a:alpha val="70000"/>
              </a:prstClr>
            </a:outerShdw>
          </a:effectLst>
        </p:grpSpPr>
        <p:sp>
          <p:nvSpPr>
            <p:cNvPr id="49" name="同心圆 608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/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>
                <a:solidFill>
                  <a:schemeClr val="tx1"/>
                </a:solidFill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479425" y="847725"/>
              <a:ext cx="3651250" cy="3651250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32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2.5E-6 -1.11111E-6 L 0.38867 0.84329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427" y="42153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64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2.77778E-6 2.422E-6 L 0.39375 -0.33797 " pathEditMode="relative" rAng="0" ptsTypes="AA">
                                      <p:cBhvr>
                                        <p:cTn id="22" dur="10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688" y="-16898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1.11111E-6 2.46914E-7 L 0.20451 0.58426 " pathEditMode="relative" rAng="0" ptsTypes="AA">
                                      <p:cBhvr>
                                        <p:cTn id="31" dur="1000" spd="-100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9198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64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3.7037E-7 L -0.52465 -0.50957 " pathEditMode="relative" rAng="0" ptsTypes="AA">
                                      <p:cBhvr>
                                        <p:cTn id="40" dur="10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233" y="-25494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2.22222E-6 1.18319E-6 L 0.21702 -0.37071 " pathEditMode="relative" rAng="0" ptsTypes="AA">
                                      <p:cBhvr>
                                        <p:cTn id="49" dur="10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51" y="-18536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64" presetClass="path" presetSubtype="0" fill="hold" grpId="2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5E-6 2.09762E-6 L -0.18855 -1.11369 " pathEditMode="relative" rAng="0" ptsTypes="AA">
                                      <p:cBhvr>
                                        <p:cTn id="58" dur="10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27" y="-5570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4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-2.71605E-6 L 0.12309 0.575 " pathEditMode="relative" rAng="0" ptsTypes="AA">
                                      <p:cBhvr>
                                        <p:cTn id="67" dur="10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46" y="28735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64" presetClass="path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2.5E-6 6.17284E-7 L -0.71736 -0.40556 " pathEditMode="relative" rAng="0" ptsTypes="AA">
                                      <p:cBhvr>
                                        <p:cTn id="76" dur="10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868" y="-20278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64" presetClass="path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3.20988E-6 L 1.0349 -0.87346 " pathEditMode="relative" rAng="0" ptsTypes="AA">
                                      <p:cBhvr>
                                        <p:cTn id="85" dur="10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736" y="-4367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64" presetClass="path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44444E-6 4.32099E-6 L -0.64115 -0.9497 " pathEditMode="relative" rAng="0" ptsTypes="AA">
                                      <p:cBhvr>
                                        <p:cTn id="94" dur="1000" spd="-100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066" y="-47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  <p:bldP spid="32" grpId="2" animBg="1"/>
      <p:bldP spid="33" grpId="0" animBg="1"/>
      <p:bldP spid="33" grpId="1" animBg="1"/>
      <p:bldP spid="33" grpId="2" animBg="1"/>
      <p:bldP spid="43" grpId="0" animBg="1"/>
      <p:bldP spid="43" grpId="1" animBg="1"/>
      <p:bldP spid="43" grpId="2" animBg="1"/>
      <p:bldP spid="44" grpId="0" animBg="1"/>
      <p:bldP spid="44" grpId="1" animBg="1"/>
      <p:bldP spid="44" grpId="2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752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spcBef>
          <a:spcPct val="0"/>
        </a:spcBef>
        <a:buNone/>
        <a:defRPr sz="4000" b="1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5.xml"/><Relationship Id="rId4" Type="http://schemas.openxmlformats.org/officeDocument/2006/relationships/image" Target="../media/image7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56205" y="2510155"/>
            <a:ext cx="8289925" cy="1001395"/>
          </a:xfrm>
        </p:spPr>
        <p:txBody>
          <a:bodyPr/>
          <a:lstStyle/>
          <a:p>
            <a:r>
              <a:rPr lang="en-US" altLang="zh-CN" sz="4800" dirty="0"/>
              <a:t>RT-Thread</a:t>
            </a:r>
            <a:r>
              <a:rPr lang="zh-CN" altLang="en-US" sz="4800" dirty="0"/>
              <a:t>入门系列视频教程</a:t>
            </a:r>
            <a:endParaRPr lang="zh-CN" alt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89138" y="4874771"/>
            <a:ext cx="7382672" cy="1032599"/>
          </a:xfrm>
        </p:spPr>
        <p:txBody>
          <a:bodyPr/>
          <a:lstStyle/>
          <a:p>
            <a:r>
              <a:rPr lang="en-US" altLang="zh-CN" dirty="0"/>
              <a:t>          </a:t>
            </a:r>
            <a:r>
              <a:rPr lang="zh-CN" altLang="en-US" sz="2800" dirty="0"/>
              <a:t>第一讲：</a:t>
            </a:r>
            <a:r>
              <a:rPr lang="en-US" altLang="zh-CN" sz="2800" dirty="0"/>
              <a:t> </a:t>
            </a:r>
            <a:r>
              <a:rPr lang="zh-CN" altLang="en-US" sz="2800" dirty="0"/>
              <a:t>初识</a:t>
            </a:r>
            <a:r>
              <a:rPr lang="en-US" altLang="zh-CN" sz="2800" dirty="0"/>
              <a:t>RT-Thread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body" idx="1"/>
          </p:nvPr>
        </p:nvSpPr>
        <p:spPr>
          <a:xfrm>
            <a:off x="3183255" y="578485"/>
            <a:ext cx="8321040" cy="5701665"/>
          </a:xfrm>
          <a:prstGeom prst="rect">
            <a:avLst/>
          </a:prstGeom>
        </p:spPr>
        <p:txBody>
          <a:bodyPr vert="horz" lIns="91425" tIns="91425" rIns="91425" bIns="91425" rtlCol="0" anchor="ctr" anchorCtr="0"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嵌入式系统是一种完全嵌入在装置或设备内部、 为满足特定需求而设计的计算机系统， 譬如生活中常见的嵌入式系统就有： 电视机顶盒、 路由器、 电冰箱、 微波炉与移动电话等等。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Font typeface="Arial" panose="020B0604020202020204" pitchFamily="34" charset="0"/>
            </a:pP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嵌入式操作系统是应用于嵌入式系统的软件，它用来对接嵌入式底层硬件与上层应用。嵌入式操作系统在多任务管理、任务间通信、 内存管理、定时器管理、设备管理等方面，提供给了用户一套完整的机制，极大程度上便利了嵌入式应用程序的开发，管理和维护。</a:t>
            </a:r>
            <a:endParaRPr lang="zh-CN" altLang="en-US" sz="2000" dirty="0"/>
          </a:p>
          <a:p>
            <a:pPr algn="l"/>
            <a:endParaRPr lang="zh-CN" altLang="en-US" sz="1400" dirty="0"/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Shape 543"/>
          <p:cNvSpPr txBox="1">
            <a:spLocks noGrp="1"/>
          </p:cNvSpPr>
          <p:nvPr>
            <p:ph type="body" idx="1"/>
          </p:nvPr>
        </p:nvSpPr>
        <p:spPr>
          <a:xfrm>
            <a:off x="3489325" y="471170"/>
            <a:ext cx="8229600" cy="5701665"/>
          </a:xfrm>
          <a:prstGeom prst="rect">
            <a:avLst/>
          </a:prstGeom>
        </p:spPr>
        <p:txBody>
          <a:bodyPr vert="horz" lIns="91425" tIns="91425" rIns="91425" bIns="91425" rtlCol="0" anchor="ctr" anchorCtr="0">
            <a:noAutofit/>
          </a:bodyPr>
          <a:lstStyle/>
          <a:p>
            <a:pPr marL="0" indent="0" algn="l">
              <a:buFont typeface="Arial" panose="020B0604020202020204" pitchFamily="34" charset="0"/>
            </a:pPr>
            <a:endParaRPr lang="zh-CN" alt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RT-Thread 诞生于 2006 年， 经过十多年的积淀， RT-Thread 已经成为一款知名度较高、口碑极佳、高度稳定可靠的实时操作系统。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Font typeface="Arial" panose="020B0604020202020204" pitchFamily="34" charset="0"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RT-Thread 以开源、 免费的方式进行发布，许可证类似 FreeRTOS；</a:t>
            </a:r>
            <a:endParaRPr lang="zh-CN" altLang="en-US" sz="2000" dirty="0"/>
          </a:p>
          <a:p>
            <a:pPr algn="l"/>
            <a:endParaRPr lang="zh-CN" alt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RT-Thread 作为一款国产嵌入式操作系统，与其他 RTOS （FreeRTOS、 uC/OS） 的主要区别是：RT-Thread 自创建之初的定位就不仅是一个 RTOS 内核， 而是包含网络、 文件系统、 GUI 界面等组件的中间件平台，具有极强的扩展性！</a:t>
            </a:r>
            <a:endParaRPr lang="zh-CN" altLang="en-US" sz="2000" dirty="0"/>
          </a:p>
          <a:p>
            <a:pPr algn="l"/>
            <a:endParaRPr lang="zh-CN" altLang="en-US" sz="2000" dirty="0"/>
          </a:p>
          <a:p>
            <a:pPr algn="l"/>
            <a:endParaRPr lang="zh-CN" altLang="en-US" sz="2000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RT-Thread 支持市面所有的主流编译工具， 如IAR、 GCC、 Keil 等；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Font typeface="Arial" panose="020B0604020202020204" pitchFamily="34" charset="0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在硬件支持方面， 它完成了在超过 50 款 MCU 芯片上和所有主流 CPU 架构上的移植工作；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因为RT-Thread 的高可靠性和组件丰富等特点， 它被广泛应用于安防、 医疗、 新能源、 车载、 导航以及消费电子等众多行业</a:t>
            </a:r>
            <a:endParaRPr lang="zh-CN" altLang="en-US" sz="1400" dirty="0"/>
          </a:p>
          <a:p>
            <a:pPr algn="l"/>
            <a:endParaRPr lang="zh-CN" altLang="en-US" sz="1400" dirty="0"/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内容提要</a:t>
            </a:r>
            <a:endParaRPr lang="zh-CN" altLang="en-US"/>
          </a:p>
        </p:txBody>
      </p:sp>
      <p:grpSp>
        <p:nvGrpSpPr>
          <p:cNvPr id="3" name="0f4157a8-cc53-4451-b641-b93f4ec538e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703070" y="1657350"/>
            <a:ext cx="8785225" cy="3543935"/>
            <a:chOff x="1693430" y="1679590"/>
            <a:chExt cx="8752688" cy="3543791"/>
          </a:xfrm>
        </p:grpSpPr>
        <p:grpSp>
          <p:nvGrpSpPr>
            <p:cNvPr id="4" name="i$ľiďe"/>
            <p:cNvGrpSpPr/>
            <p:nvPr/>
          </p:nvGrpSpPr>
          <p:grpSpPr>
            <a:xfrm>
              <a:off x="1745882" y="3433997"/>
              <a:ext cx="1550389" cy="1550389"/>
              <a:chOff x="897117" y="3301620"/>
              <a:chExt cx="2034816" cy="2034816"/>
            </a:xfrm>
          </p:grpSpPr>
          <p:sp>
            <p:nvSpPr>
              <p:cNvPr id="32" name="ïś1iḑê"/>
              <p:cNvSpPr/>
              <p:nvPr/>
            </p:nvSpPr>
            <p:spPr>
              <a:xfrm>
                <a:off x="897117" y="3301620"/>
                <a:ext cx="2034816" cy="2034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3" name="iSlïdè"/>
              <p:cNvSpPr/>
              <p:nvPr/>
            </p:nvSpPr>
            <p:spPr>
              <a:xfrm>
                <a:off x="1028700" y="3429000"/>
                <a:ext cx="1771650" cy="1771650"/>
              </a:xfrm>
              <a:prstGeom prst="ellipse">
                <a:avLst/>
              </a:prstGeom>
              <a:solidFill>
                <a:schemeClr val="accent1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5" name="íšḷîde"/>
            <p:cNvGrpSpPr/>
            <p:nvPr/>
          </p:nvGrpSpPr>
          <p:grpSpPr>
            <a:xfrm>
              <a:off x="6509291" y="3433997"/>
              <a:ext cx="1550389" cy="1550389"/>
              <a:chOff x="6548617" y="3301620"/>
              <a:chExt cx="2034816" cy="2034816"/>
            </a:xfrm>
          </p:grpSpPr>
          <p:sp>
            <p:nvSpPr>
              <p:cNvPr id="30" name="ïṡ1iḋê"/>
              <p:cNvSpPr/>
              <p:nvPr/>
            </p:nvSpPr>
            <p:spPr>
              <a:xfrm>
                <a:off x="6548617" y="3301620"/>
                <a:ext cx="2034816" cy="2034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31" name="ïṣḷiḍè"/>
              <p:cNvSpPr/>
              <p:nvPr/>
            </p:nvSpPr>
            <p:spPr>
              <a:xfrm>
                <a:off x="6680200" y="3433203"/>
                <a:ext cx="1771650" cy="1771650"/>
              </a:xfrm>
              <a:prstGeom prst="ellipse">
                <a:avLst/>
              </a:prstGeom>
              <a:solidFill>
                <a:schemeClr val="accent4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6" name="íṩliďé"/>
            <p:cNvGrpSpPr/>
            <p:nvPr/>
          </p:nvGrpSpPr>
          <p:grpSpPr>
            <a:xfrm>
              <a:off x="4129961" y="1937206"/>
              <a:ext cx="1550389" cy="1550389"/>
              <a:chOff x="3725684" y="1525767"/>
              <a:chExt cx="2034816" cy="2034816"/>
            </a:xfrm>
          </p:grpSpPr>
          <p:sp>
            <p:nvSpPr>
              <p:cNvPr id="28" name="isḻíďê"/>
              <p:cNvSpPr/>
              <p:nvPr/>
            </p:nvSpPr>
            <p:spPr>
              <a:xfrm>
                <a:off x="3725684" y="1525767"/>
                <a:ext cx="2034816" cy="2034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9" name="iŝlídê"/>
              <p:cNvSpPr/>
              <p:nvPr/>
            </p:nvSpPr>
            <p:spPr>
              <a:xfrm>
                <a:off x="3857267" y="1657350"/>
                <a:ext cx="1771650" cy="1771650"/>
              </a:xfrm>
              <a:prstGeom prst="ellipse">
                <a:avLst/>
              </a:prstGeom>
              <a:solidFill>
                <a:schemeClr val="accent2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grpSp>
          <p:nvGrpSpPr>
            <p:cNvPr id="7" name="íṥļiḑe"/>
            <p:cNvGrpSpPr/>
            <p:nvPr/>
          </p:nvGrpSpPr>
          <p:grpSpPr>
            <a:xfrm>
              <a:off x="8895729" y="1937206"/>
              <a:ext cx="1550389" cy="1550389"/>
              <a:chOff x="9379982" y="1525767"/>
              <a:chExt cx="2034816" cy="2034816"/>
            </a:xfrm>
          </p:grpSpPr>
          <p:sp>
            <p:nvSpPr>
              <p:cNvPr id="26" name="îṩḷiḓê"/>
              <p:cNvSpPr/>
              <p:nvPr/>
            </p:nvSpPr>
            <p:spPr>
              <a:xfrm>
                <a:off x="9379982" y="1525767"/>
                <a:ext cx="2034816" cy="2034816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  <p:sp>
            <p:nvSpPr>
              <p:cNvPr id="27" name="iṥ1îḓe"/>
              <p:cNvSpPr/>
              <p:nvPr/>
            </p:nvSpPr>
            <p:spPr>
              <a:xfrm>
                <a:off x="9511565" y="1657350"/>
                <a:ext cx="1771650" cy="1771650"/>
              </a:xfrm>
              <a:prstGeom prst="ellipse">
                <a:avLst/>
              </a:prstGeom>
              <a:solidFill>
                <a:schemeClr val="accent6"/>
              </a:solidFill>
              <a:ln w="762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</a:p>
            </p:txBody>
          </p:sp>
        </p:grpSp>
        <p:sp>
          <p:nvSpPr>
            <p:cNvPr id="8" name="ï$ḷïde"/>
            <p:cNvSpPr/>
            <p:nvPr/>
          </p:nvSpPr>
          <p:spPr>
            <a:xfrm rot="19500000">
              <a:off x="2891926" y="3419367"/>
              <a:ext cx="1036791" cy="395317"/>
            </a:xfrm>
            <a:prstGeom prst="homePlate">
              <a:avLst/>
            </a:prstGeom>
            <a:solidFill>
              <a:schemeClr val="accent1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9" name="ïṧḻîdé"/>
            <p:cNvSpPr/>
            <p:nvPr/>
          </p:nvSpPr>
          <p:spPr>
            <a:xfrm rot="2209917">
              <a:off x="5262212" y="3189679"/>
              <a:ext cx="1036791" cy="395317"/>
            </a:xfrm>
            <a:prstGeom prst="homePlate">
              <a:avLst/>
            </a:prstGeom>
            <a:solidFill>
              <a:schemeClr val="accent2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0" name="ïš1íḓè"/>
            <p:cNvSpPr/>
            <p:nvPr/>
          </p:nvSpPr>
          <p:spPr>
            <a:xfrm rot="19500000">
              <a:off x="7641542" y="3419367"/>
              <a:ext cx="1036791" cy="395317"/>
            </a:xfrm>
            <a:prstGeom prst="homePlate">
              <a:avLst/>
            </a:prstGeom>
            <a:solidFill>
              <a:schemeClr val="accent4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</a:p>
          </p:txBody>
        </p:sp>
        <p:sp>
          <p:nvSpPr>
            <p:cNvPr id="11" name="iṡľiḍé"/>
            <p:cNvSpPr/>
            <p:nvPr/>
          </p:nvSpPr>
          <p:spPr bwMode="auto">
            <a:xfrm>
              <a:off x="9455097" y="2332410"/>
              <a:ext cx="431653" cy="735536"/>
            </a:xfrm>
            <a:custGeom>
              <a:avLst/>
              <a:gdLst>
                <a:gd name="connsiteX0" fmla="*/ 99219 w 198438"/>
                <a:gd name="connsiteY0" fmla="*/ 288925 h 338138"/>
                <a:gd name="connsiteX1" fmla="*/ 84137 w 198438"/>
                <a:gd name="connsiteY1" fmla="*/ 302419 h 338138"/>
                <a:gd name="connsiteX2" fmla="*/ 99219 w 198438"/>
                <a:gd name="connsiteY2" fmla="*/ 315913 h 338138"/>
                <a:gd name="connsiteX3" fmla="*/ 114301 w 198438"/>
                <a:gd name="connsiteY3" fmla="*/ 302419 h 338138"/>
                <a:gd name="connsiteX4" fmla="*/ 99219 w 198438"/>
                <a:gd name="connsiteY4" fmla="*/ 288925 h 338138"/>
                <a:gd name="connsiteX5" fmla="*/ 14287 w 198438"/>
                <a:gd name="connsiteY5" fmla="*/ 69850 h 338138"/>
                <a:gd name="connsiteX6" fmla="*/ 14287 w 198438"/>
                <a:gd name="connsiteY6" fmla="*/ 268288 h 338138"/>
                <a:gd name="connsiteX7" fmla="*/ 184150 w 198438"/>
                <a:gd name="connsiteY7" fmla="*/ 268288 h 338138"/>
                <a:gd name="connsiteX8" fmla="*/ 184150 w 198438"/>
                <a:gd name="connsiteY8" fmla="*/ 69850 h 338138"/>
                <a:gd name="connsiteX9" fmla="*/ 63723 w 198438"/>
                <a:gd name="connsiteY9" fmla="*/ 28575 h 338138"/>
                <a:gd name="connsiteX10" fmla="*/ 57150 w 198438"/>
                <a:gd name="connsiteY10" fmla="*/ 36368 h 338138"/>
                <a:gd name="connsiteX11" fmla="*/ 63723 w 198438"/>
                <a:gd name="connsiteY11" fmla="*/ 42863 h 338138"/>
                <a:gd name="connsiteX12" fmla="*/ 134715 w 198438"/>
                <a:gd name="connsiteY12" fmla="*/ 42863 h 338138"/>
                <a:gd name="connsiteX13" fmla="*/ 141288 w 198438"/>
                <a:gd name="connsiteY13" fmla="*/ 36368 h 338138"/>
                <a:gd name="connsiteX14" fmla="*/ 134715 w 198438"/>
                <a:gd name="connsiteY14" fmla="*/ 28575 h 338138"/>
                <a:gd name="connsiteX15" fmla="*/ 63723 w 198438"/>
                <a:gd name="connsiteY15" fmla="*/ 28575 h 338138"/>
                <a:gd name="connsiteX16" fmla="*/ 35719 w 198438"/>
                <a:gd name="connsiteY16" fmla="*/ 0 h 338138"/>
                <a:gd name="connsiteX17" fmla="*/ 162719 w 198438"/>
                <a:gd name="connsiteY17" fmla="*/ 0 h 338138"/>
                <a:gd name="connsiteX18" fmla="*/ 198438 w 198438"/>
                <a:gd name="connsiteY18" fmla="*/ 35663 h 338138"/>
                <a:gd name="connsiteX19" fmla="*/ 198438 w 198438"/>
                <a:gd name="connsiteY19" fmla="*/ 302475 h 338138"/>
                <a:gd name="connsiteX20" fmla="*/ 162719 w 198438"/>
                <a:gd name="connsiteY20" fmla="*/ 338138 h 338138"/>
                <a:gd name="connsiteX21" fmla="*/ 35719 w 198438"/>
                <a:gd name="connsiteY21" fmla="*/ 338138 h 338138"/>
                <a:gd name="connsiteX22" fmla="*/ 0 w 198438"/>
                <a:gd name="connsiteY22" fmla="*/ 302475 h 338138"/>
                <a:gd name="connsiteX23" fmla="*/ 0 w 198438"/>
                <a:gd name="connsiteY23" fmla="*/ 35663 h 338138"/>
                <a:gd name="connsiteX24" fmla="*/ 35719 w 198438"/>
                <a:gd name="connsiteY2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8438" h="338138">
                  <a:moveTo>
                    <a:pt x="99219" y="288925"/>
                  </a:moveTo>
                  <a:cubicBezTo>
                    <a:pt x="90889" y="288925"/>
                    <a:pt x="84137" y="294966"/>
                    <a:pt x="84137" y="302419"/>
                  </a:cubicBezTo>
                  <a:cubicBezTo>
                    <a:pt x="84137" y="309872"/>
                    <a:pt x="90889" y="315913"/>
                    <a:pt x="99219" y="315913"/>
                  </a:cubicBezTo>
                  <a:cubicBezTo>
                    <a:pt x="107549" y="315913"/>
                    <a:pt x="114301" y="309872"/>
                    <a:pt x="114301" y="302419"/>
                  </a:cubicBezTo>
                  <a:cubicBezTo>
                    <a:pt x="114301" y="294966"/>
                    <a:pt x="107549" y="288925"/>
                    <a:pt x="99219" y="288925"/>
                  </a:cubicBezTo>
                  <a:close/>
                  <a:moveTo>
                    <a:pt x="14287" y="69850"/>
                  </a:moveTo>
                  <a:lnTo>
                    <a:pt x="14287" y="268288"/>
                  </a:lnTo>
                  <a:lnTo>
                    <a:pt x="184150" y="268288"/>
                  </a:lnTo>
                  <a:lnTo>
                    <a:pt x="184150" y="69850"/>
                  </a:lnTo>
                  <a:close/>
                  <a:moveTo>
                    <a:pt x="63723" y="28575"/>
                  </a:moveTo>
                  <a:cubicBezTo>
                    <a:pt x="59779" y="28575"/>
                    <a:pt x="57150" y="32472"/>
                    <a:pt x="57150" y="36368"/>
                  </a:cubicBezTo>
                  <a:cubicBezTo>
                    <a:pt x="57150" y="40265"/>
                    <a:pt x="59779" y="42863"/>
                    <a:pt x="63723" y="42863"/>
                  </a:cubicBezTo>
                  <a:cubicBezTo>
                    <a:pt x="63723" y="42863"/>
                    <a:pt x="63723" y="42863"/>
                    <a:pt x="134715" y="42863"/>
                  </a:cubicBezTo>
                  <a:cubicBezTo>
                    <a:pt x="138659" y="42863"/>
                    <a:pt x="141288" y="40265"/>
                    <a:pt x="141288" y="36368"/>
                  </a:cubicBezTo>
                  <a:cubicBezTo>
                    <a:pt x="141288" y="32472"/>
                    <a:pt x="138659" y="28575"/>
                    <a:pt x="134715" y="28575"/>
                  </a:cubicBezTo>
                  <a:cubicBezTo>
                    <a:pt x="134715" y="28575"/>
                    <a:pt x="134715" y="28575"/>
                    <a:pt x="63723" y="28575"/>
                  </a:cubicBezTo>
                  <a:close/>
                  <a:moveTo>
                    <a:pt x="35719" y="0"/>
                  </a:moveTo>
                  <a:cubicBezTo>
                    <a:pt x="35719" y="0"/>
                    <a:pt x="35719" y="0"/>
                    <a:pt x="162719" y="0"/>
                  </a:cubicBezTo>
                  <a:cubicBezTo>
                    <a:pt x="182563" y="0"/>
                    <a:pt x="198438" y="15850"/>
                    <a:pt x="198438" y="35663"/>
                  </a:cubicBezTo>
                  <a:cubicBezTo>
                    <a:pt x="198438" y="35663"/>
                    <a:pt x="198438" y="35663"/>
                    <a:pt x="198438" y="302475"/>
                  </a:cubicBezTo>
                  <a:cubicBezTo>
                    <a:pt x="198438" y="322288"/>
                    <a:pt x="182563" y="338138"/>
                    <a:pt x="162719" y="338138"/>
                  </a:cubicBezTo>
                  <a:cubicBezTo>
                    <a:pt x="162719" y="338138"/>
                    <a:pt x="162719" y="338138"/>
                    <a:pt x="35719" y="338138"/>
                  </a:cubicBezTo>
                  <a:cubicBezTo>
                    <a:pt x="15875" y="338138"/>
                    <a:pt x="0" y="322288"/>
                    <a:pt x="0" y="302475"/>
                  </a:cubicBezTo>
                  <a:cubicBezTo>
                    <a:pt x="0" y="302475"/>
                    <a:pt x="0" y="302475"/>
                    <a:pt x="0" y="35663"/>
                  </a:cubicBezTo>
                  <a:cubicBezTo>
                    <a:pt x="0" y="15850"/>
                    <a:pt x="15875" y="0"/>
                    <a:pt x="357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2" name="iŝḻïďê"/>
            <p:cNvSpPr/>
            <p:nvPr/>
          </p:nvSpPr>
          <p:spPr bwMode="auto">
            <a:xfrm>
              <a:off x="2323666" y="3819356"/>
              <a:ext cx="415466" cy="707954"/>
            </a:xfrm>
            <a:custGeom>
              <a:avLst/>
              <a:gdLst>
                <a:gd name="connsiteX0" fmla="*/ 99219 w 198438"/>
                <a:gd name="connsiteY0" fmla="*/ 288925 h 338138"/>
                <a:gd name="connsiteX1" fmla="*/ 84137 w 198438"/>
                <a:gd name="connsiteY1" fmla="*/ 302419 h 338138"/>
                <a:gd name="connsiteX2" fmla="*/ 99219 w 198438"/>
                <a:gd name="connsiteY2" fmla="*/ 315913 h 338138"/>
                <a:gd name="connsiteX3" fmla="*/ 114301 w 198438"/>
                <a:gd name="connsiteY3" fmla="*/ 302419 h 338138"/>
                <a:gd name="connsiteX4" fmla="*/ 99219 w 198438"/>
                <a:gd name="connsiteY4" fmla="*/ 288925 h 338138"/>
                <a:gd name="connsiteX5" fmla="*/ 14287 w 198438"/>
                <a:gd name="connsiteY5" fmla="*/ 69850 h 338138"/>
                <a:gd name="connsiteX6" fmla="*/ 14287 w 198438"/>
                <a:gd name="connsiteY6" fmla="*/ 268288 h 338138"/>
                <a:gd name="connsiteX7" fmla="*/ 184150 w 198438"/>
                <a:gd name="connsiteY7" fmla="*/ 268288 h 338138"/>
                <a:gd name="connsiteX8" fmla="*/ 184150 w 198438"/>
                <a:gd name="connsiteY8" fmla="*/ 69850 h 338138"/>
                <a:gd name="connsiteX9" fmla="*/ 63723 w 198438"/>
                <a:gd name="connsiteY9" fmla="*/ 28575 h 338138"/>
                <a:gd name="connsiteX10" fmla="*/ 57150 w 198438"/>
                <a:gd name="connsiteY10" fmla="*/ 36368 h 338138"/>
                <a:gd name="connsiteX11" fmla="*/ 63723 w 198438"/>
                <a:gd name="connsiteY11" fmla="*/ 42863 h 338138"/>
                <a:gd name="connsiteX12" fmla="*/ 134715 w 198438"/>
                <a:gd name="connsiteY12" fmla="*/ 42863 h 338138"/>
                <a:gd name="connsiteX13" fmla="*/ 141288 w 198438"/>
                <a:gd name="connsiteY13" fmla="*/ 36368 h 338138"/>
                <a:gd name="connsiteX14" fmla="*/ 134715 w 198438"/>
                <a:gd name="connsiteY14" fmla="*/ 28575 h 338138"/>
                <a:gd name="connsiteX15" fmla="*/ 63723 w 198438"/>
                <a:gd name="connsiteY15" fmla="*/ 28575 h 338138"/>
                <a:gd name="connsiteX16" fmla="*/ 35719 w 198438"/>
                <a:gd name="connsiteY16" fmla="*/ 0 h 338138"/>
                <a:gd name="connsiteX17" fmla="*/ 162719 w 198438"/>
                <a:gd name="connsiteY17" fmla="*/ 0 h 338138"/>
                <a:gd name="connsiteX18" fmla="*/ 198438 w 198438"/>
                <a:gd name="connsiteY18" fmla="*/ 35663 h 338138"/>
                <a:gd name="connsiteX19" fmla="*/ 198438 w 198438"/>
                <a:gd name="connsiteY19" fmla="*/ 302475 h 338138"/>
                <a:gd name="connsiteX20" fmla="*/ 162719 w 198438"/>
                <a:gd name="connsiteY20" fmla="*/ 338138 h 338138"/>
                <a:gd name="connsiteX21" fmla="*/ 35719 w 198438"/>
                <a:gd name="connsiteY21" fmla="*/ 338138 h 338138"/>
                <a:gd name="connsiteX22" fmla="*/ 0 w 198438"/>
                <a:gd name="connsiteY22" fmla="*/ 302475 h 338138"/>
                <a:gd name="connsiteX23" fmla="*/ 0 w 198438"/>
                <a:gd name="connsiteY23" fmla="*/ 35663 h 338138"/>
                <a:gd name="connsiteX24" fmla="*/ 35719 w 198438"/>
                <a:gd name="connsiteY2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8438" h="338138">
                  <a:moveTo>
                    <a:pt x="99219" y="288925"/>
                  </a:moveTo>
                  <a:cubicBezTo>
                    <a:pt x="90889" y="288925"/>
                    <a:pt x="84137" y="294966"/>
                    <a:pt x="84137" y="302419"/>
                  </a:cubicBezTo>
                  <a:cubicBezTo>
                    <a:pt x="84137" y="309872"/>
                    <a:pt x="90889" y="315913"/>
                    <a:pt x="99219" y="315913"/>
                  </a:cubicBezTo>
                  <a:cubicBezTo>
                    <a:pt x="107549" y="315913"/>
                    <a:pt x="114301" y="309872"/>
                    <a:pt x="114301" y="302419"/>
                  </a:cubicBezTo>
                  <a:cubicBezTo>
                    <a:pt x="114301" y="294966"/>
                    <a:pt x="107549" y="288925"/>
                    <a:pt x="99219" y="288925"/>
                  </a:cubicBezTo>
                  <a:close/>
                  <a:moveTo>
                    <a:pt x="14287" y="69850"/>
                  </a:moveTo>
                  <a:lnTo>
                    <a:pt x="14287" y="268288"/>
                  </a:lnTo>
                  <a:lnTo>
                    <a:pt x="184150" y="268288"/>
                  </a:lnTo>
                  <a:lnTo>
                    <a:pt x="184150" y="69850"/>
                  </a:lnTo>
                  <a:close/>
                  <a:moveTo>
                    <a:pt x="63723" y="28575"/>
                  </a:moveTo>
                  <a:cubicBezTo>
                    <a:pt x="59779" y="28575"/>
                    <a:pt x="57150" y="32472"/>
                    <a:pt x="57150" y="36368"/>
                  </a:cubicBezTo>
                  <a:cubicBezTo>
                    <a:pt x="57150" y="40265"/>
                    <a:pt x="59779" y="42863"/>
                    <a:pt x="63723" y="42863"/>
                  </a:cubicBezTo>
                  <a:cubicBezTo>
                    <a:pt x="63723" y="42863"/>
                    <a:pt x="63723" y="42863"/>
                    <a:pt x="134715" y="42863"/>
                  </a:cubicBezTo>
                  <a:cubicBezTo>
                    <a:pt x="138659" y="42863"/>
                    <a:pt x="141288" y="40265"/>
                    <a:pt x="141288" y="36368"/>
                  </a:cubicBezTo>
                  <a:cubicBezTo>
                    <a:pt x="141288" y="32472"/>
                    <a:pt x="138659" y="28575"/>
                    <a:pt x="134715" y="28575"/>
                  </a:cubicBezTo>
                  <a:cubicBezTo>
                    <a:pt x="134715" y="28575"/>
                    <a:pt x="134715" y="28575"/>
                    <a:pt x="63723" y="28575"/>
                  </a:cubicBezTo>
                  <a:close/>
                  <a:moveTo>
                    <a:pt x="35719" y="0"/>
                  </a:moveTo>
                  <a:cubicBezTo>
                    <a:pt x="35719" y="0"/>
                    <a:pt x="35719" y="0"/>
                    <a:pt x="162719" y="0"/>
                  </a:cubicBezTo>
                  <a:cubicBezTo>
                    <a:pt x="182563" y="0"/>
                    <a:pt x="198438" y="15850"/>
                    <a:pt x="198438" y="35663"/>
                  </a:cubicBezTo>
                  <a:cubicBezTo>
                    <a:pt x="198438" y="35663"/>
                    <a:pt x="198438" y="35663"/>
                    <a:pt x="198438" y="302475"/>
                  </a:cubicBezTo>
                  <a:cubicBezTo>
                    <a:pt x="198438" y="322288"/>
                    <a:pt x="182563" y="338138"/>
                    <a:pt x="162719" y="338138"/>
                  </a:cubicBezTo>
                  <a:cubicBezTo>
                    <a:pt x="162719" y="338138"/>
                    <a:pt x="162719" y="338138"/>
                    <a:pt x="35719" y="338138"/>
                  </a:cubicBezTo>
                  <a:cubicBezTo>
                    <a:pt x="15875" y="338138"/>
                    <a:pt x="0" y="322288"/>
                    <a:pt x="0" y="302475"/>
                  </a:cubicBezTo>
                  <a:cubicBezTo>
                    <a:pt x="0" y="302475"/>
                    <a:pt x="0" y="302475"/>
                    <a:pt x="0" y="35663"/>
                  </a:cubicBezTo>
                  <a:cubicBezTo>
                    <a:pt x="0" y="15850"/>
                    <a:pt x="15875" y="0"/>
                    <a:pt x="357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3" name="íṩľïḋê"/>
            <p:cNvSpPr/>
            <p:nvPr/>
          </p:nvSpPr>
          <p:spPr bwMode="auto">
            <a:xfrm>
              <a:off x="7063349" y="3803357"/>
              <a:ext cx="434244" cy="739951"/>
            </a:xfrm>
            <a:custGeom>
              <a:avLst/>
              <a:gdLst>
                <a:gd name="connsiteX0" fmla="*/ 99219 w 198438"/>
                <a:gd name="connsiteY0" fmla="*/ 288925 h 338138"/>
                <a:gd name="connsiteX1" fmla="*/ 84137 w 198438"/>
                <a:gd name="connsiteY1" fmla="*/ 302419 h 338138"/>
                <a:gd name="connsiteX2" fmla="*/ 99219 w 198438"/>
                <a:gd name="connsiteY2" fmla="*/ 315913 h 338138"/>
                <a:gd name="connsiteX3" fmla="*/ 114301 w 198438"/>
                <a:gd name="connsiteY3" fmla="*/ 302419 h 338138"/>
                <a:gd name="connsiteX4" fmla="*/ 99219 w 198438"/>
                <a:gd name="connsiteY4" fmla="*/ 288925 h 338138"/>
                <a:gd name="connsiteX5" fmla="*/ 14287 w 198438"/>
                <a:gd name="connsiteY5" fmla="*/ 69850 h 338138"/>
                <a:gd name="connsiteX6" fmla="*/ 14287 w 198438"/>
                <a:gd name="connsiteY6" fmla="*/ 268288 h 338138"/>
                <a:gd name="connsiteX7" fmla="*/ 184150 w 198438"/>
                <a:gd name="connsiteY7" fmla="*/ 268288 h 338138"/>
                <a:gd name="connsiteX8" fmla="*/ 184150 w 198438"/>
                <a:gd name="connsiteY8" fmla="*/ 69850 h 338138"/>
                <a:gd name="connsiteX9" fmla="*/ 63723 w 198438"/>
                <a:gd name="connsiteY9" fmla="*/ 28575 h 338138"/>
                <a:gd name="connsiteX10" fmla="*/ 57150 w 198438"/>
                <a:gd name="connsiteY10" fmla="*/ 36368 h 338138"/>
                <a:gd name="connsiteX11" fmla="*/ 63723 w 198438"/>
                <a:gd name="connsiteY11" fmla="*/ 42863 h 338138"/>
                <a:gd name="connsiteX12" fmla="*/ 134715 w 198438"/>
                <a:gd name="connsiteY12" fmla="*/ 42863 h 338138"/>
                <a:gd name="connsiteX13" fmla="*/ 141288 w 198438"/>
                <a:gd name="connsiteY13" fmla="*/ 36368 h 338138"/>
                <a:gd name="connsiteX14" fmla="*/ 134715 w 198438"/>
                <a:gd name="connsiteY14" fmla="*/ 28575 h 338138"/>
                <a:gd name="connsiteX15" fmla="*/ 63723 w 198438"/>
                <a:gd name="connsiteY15" fmla="*/ 28575 h 338138"/>
                <a:gd name="connsiteX16" fmla="*/ 35719 w 198438"/>
                <a:gd name="connsiteY16" fmla="*/ 0 h 338138"/>
                <a:gd name="connsiteX17" fmla="*/ 162719 w 198438"/>
                <a:gd name="connsiteY17" fmla="*/ 0 h 338138"/>
                <a:gd name="connsiteX18" fmla="*/ 198438 w 198438"/>
                <a:gd name="connsiteY18" fmla="*/ 35663 h 338138"/>
                <a:gd name="connsiteX19" fmla="*/ 198438 w 198438"/>
                <a:gd name="connsiteY19" fmla="*/ 302475 h 338138"/>
                <a:gd name="connsiteX20" fmla="*/ 162719 w 198438"/>
                <a:gd name="connsiteY20" fmla="*/ 338138 h 338138"/>
                <a:gd name="connsiteX21" fmla="*/ 35719 w 198438"/>
                <a:gd name="connsiteY21" fmla="*/ 338138 h 338138"/>
                <a:gd name="connsiteX22" fmla="*/ 0 w 198438"/>
                <a:gd name="connsiteY22" fmla="*/ 302475 h 338138"/>
                <a:gd name="connsiteX23" fmla="*/ 0 w 198438"/>
                <a:gd name="connsiteY23" fmla="*/ 35663 h 338138"/>
                <a:gd name="connsiteX24" fmla="*/ 35719 w 198438"/>
                <a:gd name="connsiteY2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8438" h="338138">
                  <a:moveTo>
                    <a:pt x="99219" y="288925"/>
                  </a:moveTo>
                  <a:cubicBezTo>
                    <a:pt x="90889" y="288925"/>
                    <a:pt x="84137" y="294966"/>
                    <a:pt x="84137" y="302419"/>
                  </a:cubicBezTo>
                  <a:cubicBezTo>
                    <a:pt x="84137" y="309872"/>
                    <a:pt x="90889" y="315913"/>
                    <a:pt x="99219" y="315913"/>
                  </a:cubicBezTo>
                  <a:cubicBezTo>
                    <a:pt x="107549" y="315913"/>
                    <a:pt x="114301" y="309872"/>
                    <a:pt x="114301" y="302419"/>
                  </a:cubicBezTo>
                  <a:cubicBezTo>
                    <a:pt x="114301" y="294966"/>
                    <a:pt x="107549" y="288925"/>
                    <a:pt x="99219" y="288925"/>
                  </a:cubicBezTo>
                  <a:close/>
                  <a:moveTo>
                    <a:pt x="14287" y="69850"/>
                  </a:moveTo>
                  <a:lnTo>
                    <a:pt x="14287" y="268288"/>
                  </a:lnTo>
                  <a:lnTo>
                    <a:pt x="184150" y="268288"/>
                  </a:lnTo>
                  <a:lnTo>
                    <a:pt x="184150" y="69850"/>
                  </a:lnTo>
                  <a:close/>
                  <a:moveTo>
                    <a:pt x="63723" y="28575"/>
                  </a:moveTo>
                  <a:cubicBezTo>
                    <a:pt x="59779" y="28575"/>
                    <a:pt x="57150" y="32472"/>
                    <a:pt x="57150" y="36368"/>
                  </a:cubicBezTo>
                  <a:cubicBezTo>
                    <a:pt x="57150" y="40265"/>
                    <a:pt x="59779" y="42863"/>
                    <a:pt x="63723" y="42863"/>
                  </a:cubicBezTo>
                  <a:cubicBezTo>
                    <a:pt x="63723" y="42863"/>
                    <a:pt x="63723" y="42863"/>
                    <a:pt x="134715" y="42863"/>
                  </a:cubicBezTo>
                  <a:cubicBezTo>
                    <a:pt x="138659" y="42863"/>
                    <a:pt x="141288" y="40265"/>
                    <a:pt x="141288" y="36368"/>
                  </a:cubicBezTo>
                  <a:cubicBezTo>
                    <a:pt x="141288" y="32472"/>
                    <a:pt x="138659" y="28575"/>
                    <a:pt x="134715" y="28575"/>
                  </a:cubicBezTo>
                  <a:cubicBezTo>
                    <a:pt x="134715" y="28575"/>
                    <a:pt x="134715" y="28575"/>
                    <a:pt x="63723" y="28575"/>
                  </a:cubicBezTo>
                  <a:close/>
                  <a:moveTo>
                    <a:pt x="35719" y="0"/>
                  </a:moveTo>
                  <a:cubicBezTo>
                    <a:pt x="35719" y="0"/>
                    <a:pt x="35719" y="0"/>
                    <a:pt x="162719" y="0"/>
                  </a:cubicBezTo>
                  <a:cubicBezTo>
                    <a:pt x="182563" y="0"/>
                    <a:pt x="198438" y="15850"/>
                    <a:pt x="198438" y="35663"/>
                  </a:cubicBezTo>
                  <a:cubicBezTo>
                    <a:pt x="198438" y="35663"/>
                    <a:pt x="198438" y="35663"/>
                    <a:pt x="198438" y="302475"/>
                  </a:cubicBezTo>
                  <a:cubicBezTo>
                    <a:pt x="198438" y="322288"/>
                    <a:pt x="182563" y="338138"/>
                    <a:pt x="162719" y="338138"/>
                  </a:cubicBezTo>
                  <a:cubicBezTo>
                    <a:pt x="162719" y="338138"/>
                    <a:pt x="162719" y="338138"/>
                    <a:pt x="35719" y="338138"/>
                  </a:cubicBezTo>
                  <a:cubicBezTo>
                    <a:pt x="15875" y="338138"/>
                    <a:pt x="0" y="322288"/>
                    <a:pt x="0" y="302475"/>
                  </a:cubicBezTo>
                  <a:cubicBezTo>
                    <a:pt x="0" y="302475"/>
                    <a:pt x="0" y="302475"/>
                    <a:pt x="0" y="35663"/>
                  </a:cubicBezTo>
                  <a:cubicBezTo>
                    <a:pt x="0" y="15850"/>
                    <a:pt x="15875" y="0"/>
                    <a:pt x="35719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anchor="ctr"/>
            <a:lstStyle/>
            <a:p>
              <a:pPr algn="ctr"/>
            </a:p>
          </p:txBody>
        </p:sp>
        <p:sp>
          <p:nvSpPr>
            <p:cNvPr id="14" name="iśļiḍe"/>
            <p:cNvSpPr/>
            <p:nvPr/>
          </p:nvSpPr>
          <p:spPr bwMode="auto">
            <a:xfrm>
              <a:off x="4695429" y="2357253"/>
              <a:ext cx="419451" cy="714744"/>
            </a:xfrm>
            <a:custGeom>
              <a:avLst/>
              <a:gdLst>
                <a:gd name="connsiteX0" fmla="*/ 99219 w 198438"/>
                <a:gd name="connsiteY0" fmla="*/ 288925 h 338138"/>
                <a:gd name="connsiteX1" fmla="*/ 84137 w 198438"/>
                <a:gd name="connsiteY1" fmla="*/ 302419 h 338138"/>
                <a:gd name="connsiteX2" fmla="*/ 99219 w 198438"/>
                <a:gd name="connsiteY2" fmla="*/ 315913 h 338138"/>
                <a:gd name="connsiteX3" fmla="*/ 114301 w 198438"/>
                <a:gd name="connsiteY3" fmla="*/ 302419 h 338138"/>
                <a:gd name="connsiteX4" fmla="*/ 99219 w 198438"/>
                <a:gd name="connsiteY4" fmla="*/ 288925 h 338138"/>
                <a:gd name="connsiteX5" fmla="*/ 14287 w 198438"/>
                <a:gd name="connsiteY5" fmla="*/ 69850 h 338138"/>
                <a:gd name="connsiteX6" fmla="*/ 14287 w 198438"/>
                <a:gd name="connsiteY6" fmla="*/ 268288 h 338138"/>
                <a:gd name="connsiteX7" fmla="*/ 184150 w 198438"/>
                <a:gd name="connsiteY7" fmla="*/ 268288 h 338138"/>
                <a:gd name="connsiteX8" fmla="*/ 184150 w 198438"/>
                <a:gd name="connsiteY8" fmla="*/ 69850 h 338138"/>
                <a:gd name="connsiteX9" fmla="*/ 63723 w 198438"/>
                <a:gd name="connsiteY9" fmla="*/ 28575 h 338138"/>
                <a:gd name="connsiteX10" fmla="*/ 57150 w 198438"/>
                <a:gd name="connsiteY10" fmla="*/ 36368 h 338138"/>
                <a:gd name="connsiteX11" fmla="*/ 63723 w 198438"/>
                <a:gd name="connsiteY11" fmla="*/ 42863 h 338138"/>
                <a:gd name="connsiteX12" fmla="*/ 134715 w 198438"/>
                <a:gd name="connsiteY12" fmla="*/ 42863 h 338138"/>
                <a:gd name="connsiteX13" fmla="*/ 141288 w 198438"/>
                <a:gd name="connsiteY13" fmla="*/ 36368 h 338138"/>
                <a:gd name="connsiteX14" fmla="*/ 134715 w 198438"/>
                <a:gd name="connsiteY14" fmla="*/ 28575 h 338138"/>
                <a:gd name="connsiteX15" fmla="*/ 63723 w 198438"/>
                <a:gd name="connsiteY15" fmla="*/ 28575 h 338138"/>
                <a:gd name="connsiteX16" fmla="*/ 35719 w 198438"/>
                <a:gd name="connsiteY16" fmla="*/ 0 h 338138"/>
                <a:gd name="connsiteX17" fmla="*/ 162719 w 198438"/>
                <a:gd name="connsiteY17" fmla="*/ 0 h 338138"/>
                <a:gd name="connsiteX18" fmla="*/ 198438 w 198438"/>
                <a:gd name="connsiteY18" fmla="*/ 35663 h 338138"/>
                <a:gd name="connsiteX19" fmla="*/ 198438 w 198438"/>
                <a:gd name="connsiteY19" fmla="*/ 302475 h 338138"/>
                <a:gd name="connsiteX20" fmla="*/ 162719 w 198438"/>
                <a:gd name="connsiteY20" fmla="*/ 338138 h 338138"/>
                <a:gd name="connsiteX21" fmla="*/ 35719 w 198438"/>
                <a:gd name="connsiteY21" fmla="*/ 338138 h 338138"/>
                <a:gd name="connsiteX22" fmla="*/ 0 w 198438"/>
                <a:gd name="connsiteY22" fmla="*/ 302475 h 338138"/>
                <a:gd name="connsiteX23" fmla="*/ 0 w 198438"/>
                <a:gd name="connsiteY23" fmla="*/ 35663 h 338138"/>
                <a:gd name="connsiteX24" fmla="*/ 35719 w 198438"/>
                <a:gd name="connsiteY24" fmla="*/ 0 h 338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98438" h="338138">
                  <a:moveTo>
                    <a:pt x="99219" y="288925"/>
                  </a:moveTo>
                  <a:cubicBezTo>
                    <a:pt x="90889" y="288925"/>
                    <a:pt x="84137" y="294966"/>
                    <a:pt x="84137" y="302419"/>
                  </a:cubicBezTo>
                  <a:cubicBezTo>
                    <a:pt x="84137" y="309872"/>
                    <a:pt x="90889" y="315913"/>
                    <a:pt x="99219" y="315913"/>
                  </a:cubicBezTo>
                  <a:cubicBezTo>
                    <a:pt x="107549" y="315913"/>
                    <a:pt x="114301" y="309872"/>
                    <a:pt x="114301" y="302419"/>
                  </a:cubicBezTo>
                  <a:cubicBezTo>
                    <a:pt x="114301" y="294966"/>
                    <a:pt x="107549" y="288925"/>
                    <a:pt x="99219" y="288925"/>
                  </a:cubicBezTo>
                  <a:close/>
                  <a:moveTo>
                    <a:pt x="14287" y="69850"/>
                  </a:moveTo>
                  <a:lnTo>
                    <a:pt x="14287" y="268288"/>
                  </a:lnTo>
                  <a:lnTo>
                    <a:pt x="184150" y="268288"/>
                  </a:lnTo>
                  <a:lnTo>
                    <a:pt x="184150" y="69850"/>
                  </a:lnTo>
                  <a:close/>
                  <a:moveTo>
                    <a:pt x="63723" y="28575"/>
                  </a:moveTo>
                  <a:cubicBezTo>
                    <a:pt x="59779" y="28575"/>
                    <a:pt x="57150" y="32472"/>
                    <a:pt x="57150" y="36368"/>
                  </a:cubicBezTo>
                  <a:cubicBezTo>
                    <a:pt x="57150" y="40265"/>
                    <a:pt x="59779" y="42863"/>
                    <a:pt x="63723" y="42863"/>
                  </a:cubicBezTo>
                  <a:cubicBezTo>
                    <a:pt x="63723" y="42863"/>
                    <a:pt x="63723" y="42863"/>
                    <a:pt x="134715" y="42863"/>
                  </a:cubicBezTo>
                  <a:cubicBezTo>
                    <a:pt x="138659" y="42863"/>
                    <a:pt x="141288" y="40265"/>
                    <a:pt x="141288" y="36368"/>
                  </a:cubicBezTo>
                  <a:cubicBezTo>
                    <a:pt x="141288" y="32472"/>
                    <a:pt x="138659" y="28575"/>
                    <a:pt x="134715" y="28575"/>
                  </a:cubicBezTo>
                  <a:cubicBezTo>
                    <a:pt x="134715" y="28575"/>
                    <a:pt x="134715" y="28575"/>
                    <a:pt x="63723" y="28575"/>
                  </a:cubicBezTo>
                  <a:close/>
                  <a:moveTo>
                    <a:pt x="35719" y="0"/>
                  </a:moveTo>
                  <a:cubicBezTo>
                    <a:pt x="35719" y="0"/>
                    <a:pt x="35719" y="0"/>
                    <a:pt x="162719" y="0"/>
                  </a:cubicBezTo>
                  <a:cubicBezTo>
                    <a:pt x="182563" y="0"/>
                    <a:pt x="198438" y="15850"/>
                    <a:pt x="198438" y="35663"/>
                  </a:cubicBezTo>
                  <a:cubicBezTo>
                    <a:pt x="198438" y="35663"/>
                    <a:pt x="198438" y="35663"/>
                    <a:pt x="198438" y="302475"/>
                  </a:cubicBezTo>
                  <a:cubicBezTo>
                    <a:pt x="198438" y="322288"/>
                    <a:pt x="182563" y="338138"/>
                    <a:pt x="162719" y="338138"/>
                  </a:cubicBezTo>
                  <a:cubicBezTo>
                    <a:pt x="162719" y="338138"/>
                    <a:pt x="162719" y="338138"/>
                    <a:pt x="35719" y="338138"/>
                  </a:cubicBezTo>
                  <a:cubicBezTo>
                    <a:pt x="15875" y="338138"/>
                    <a:pt x="0" y="322288"/>
                    <a:pt x="0" y="302475"/>
                  </a:cubicBezTo>
                  <a:cubicBezTo>
                    <a:pt x="0" y="302475"/>
                    <a:pt x="0" y="302475"/>
                    <a:pt x="0" y="35663"/>
                  </a:cubicBezTo>
                  <a:cubicBezTo>
                    <a:pt x="0" y="15850"/>
                    <a:pt x="15875" y="0"/>
                    <a:pt x="3571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anchor="ctr"/>
            <a:lstStyle/>
            <a:p>
              <a:pPr algn="ctr"/>
            </a:p>
          </p:txBody>
        </p:sp>
        <p:grpSp>
          <p:nvGrpSpPr>
            <p:cNvPr id="15" name="iślîdé"/>
            <p:cNvGrpSpPr/>
            <p:nvPr/>
          </p:nvGrpSpPr>
          <p:grpSpPr>
            <a:xfrm>
              <a:off x="3366306" y="4268244"/>
              <a:ext cx="7079812" cy="955137"/>
              <a:chOff x="1279295" y="5180920"/>
              <a:chExt cx="7079812" cy="955137"/>
            </a:xfrm>
          </p:grpSpPr>
          <p:sp>
            <p:nvSpPr>
              <p:cNvPr id="22" name="ïşľiḋê"/>
              <p:cNvSpPr txBox="1"/>
              <p:nvPr/>
            </p:nvSpPr>
            <p:spPr>
              <a:xfrm>
                <a:off x="6338132" y="5509411"/>
                <a:ext cx="2020975" cy="62664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1">
                <a:no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zh-CN" sz="1400"/>
                  <a:t>启动步骤说明</a:t>
                </a:r>
                <a:endParaRPr lang="zh-CN" altLang="zh-CN" sz="1400"/>
              </a:p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zh-CN" sz="1400"/>
                  <a:t>用户代码入口</a:t>
                </a:r>
                <a:endParaRPr lang="zh-CN" altLang="zh-CN" sz="1400"/>
              </a:p>
            </p:txBody>
          </p:sp>
          <p:sp>
            <p:nvSpPr>
              <p:cNvPr id="23" name="ïṣḷîḑè"/>
              <p:cNvSpPr/>
              <p:nvPr/>
            </p:nvSpPr>
            <p:spPr>
              <a:xfrm>
                <a:off x="6338131" y="5180920"/>
                <a:ext cx="2020976" cy="325410"/>
              </a:xfrm>
              <a:prstGeom prst="rect">
                <a:avLst/>
              </a:prstGeom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defTabSz="913765">
                  <a:spcBef>
                    <a:spcPct val="0"/>
                  </a:spcBef>
                  <a:defRPr/>
                </a:pPr>
                <a:r>
                  <a:rPr lang="zh-CN" altLang="en-US" sz="2800" b="1">
                    <a:solidFill>
                      <a:schemeClr val="accent4"/>
                    </a:solidFill>
                  </a:rPr>
                  <a:t>系统启动过程解析</a:t>
                </a:r>
                <a:endParaRPr lang="zh-CN" altLang="en-US" sz="2800" b="1">
                  <a:solidFill>
                    <a:schemeClr val="accent4"/>
                  </a:solidFill>
                </a:endParaRPr>
              </a:p>
            </p:txBody>
          </p:sp>
          <p:sp>
            <p:nvSpPr>
              <p:cNvPr id="24" name="îṧḷïďè"/>
              <p:cNvSpPr txBox="1"/>
              <p:nvPr/>
            </p:nvSpPr>
            <p:spPr>
              <a:xfrm>
                <a:off x="1279295" y="5509202"/>
                <a:ext cx="2667878" cy="6267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400"/>
                  <a:t>rt-thread</a:t>
                </a:r>
                <a:r>
                  <a:rPr lang="zh-CN" altLang="en-US" sz="1400"/>
                  <a:t>源码目录介绍</a:t>
                </a:r>
                <a:endParaRPr lang="zh-CN" altLang="en-US" sz="1400"/>
              </a:p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400"/>
                  <a:t>示例目录介绍</a:t>
                </a:r>
                <a:endParaRPr lang="zh-CN" altLang="en-US" sz="1400"/>
              </a:p>
            </p:txBody>
          </p:sp>
          <p:sp>
            <p:nvSpPr>
              <p:cNvPr id="25" name="í$ḻiḋé"/>
              <p:cNvSpPr/>
              <p:nvPr/>
            </p:nvSpPr>
            <p:spPr>
              <a:xfrm>
                <a:off x="1467192" y="5180920"/>
                <a:ext cx="2020976" cy="325410"/>
              </a:xfrm>
              <a:prstGeom prst="rect">
                <a:avLst/>
              </a:prstGeom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indent="0" algn="ctr" defTabSz="913765">
                  <a:spcBef>
                    <a:spcPct val="0"/>
                  </a:spcBef>
                  <a:buFont typeface="+mj-lt"/>
                  <a:buNone/>
                  <a:defRPr/>
                </a:pPr>
                <a:r>
                  <a:rPr lang="zh-CN" altLang="en-US" sz="2800" b="1">
                    <a:solidFill>
                      <a:schemeClr val="accent1"/>
                    </a:solidFill>
                  </a:rPr>
                  <a:t>代码目录介绍</a:t>
                </a:r>
                <a:endParaRPr lang="zh-CN" altLang="en-US" sz="2800" b="1">
                  <a:solidFill>
                    <a:schemeClr val="accent1"/>
                  </a:solidFill>
                </a:endParaRPr>
              </a:p>
            </p:txBody>
          </p:sp>
        </p:grpSp>
        <p:grpSp>
          <p:nvGrpSpPr>
            <p:cNvPr id="16" name="îS1iḋe"/>
            <p:cNvGrpSpPr/>
            <p:nvPr/>
          </p:nvGrpSpPr>
          <p:grpSpPr>
            <a:xfrm>
              <a:off x="6564369" y="1679590"/>
              <a:ext cx="2020976" cy="955137"/>
              <a:chOff x="8792902" y="806351"/>
              <a:chExt cx="2020976" cy="955137"/>
            </a:xfrm>
          </p:grpSpPr>
          <p:sp>
            <p:nvSpPr>
              <p:cNvPr id="20" name="isļíḋé"/>
              <p:cNvSpPr txBox="1"/>
              <p:nvPr/>
            </p:nvSpPr>
            <p:spPr>
              <a:xfrm>
                <a:off x="8792903" y="1134842"/>
                <a:ext cx="2020975" cy="62664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400"/>
                  <a:t>查看串口信息</a:t>
                </a:r>
                <a:endParaRPr lang="zh-CN" altLang="en-US" sz="1400"/>
              </a:p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zh-CN" altLang="en-US" sz="1400"/>
                  <a:t>测试命令行</a:t>
                </a:r>
                <a:endParaRPr lang="zh-CN" altLang="en-US" sz="1400"/>
              </a:p>
            </p:txBody>
          </p:sp>
          <p:sp>
            <p:nvSpPr>
              <p:cNvPr id="21" name="ïš1idé"/>
              <p:cNvSpPr/>
              <p:nvPr/>
            </p:nvSpPr>
            <p:spPr>
              <a:xfrm>
                <a:off x="8792902" y="806351"/>
                <a:ext cx="2020976" cy="325410"/>
              </a:xfrm>
              <a:prstGeom prst="rect">
                <a:avLst/>
              </a:prstGeom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algn="ctr" defTabSz="913765">
                  <a:spcBef>
                    <a:spcPct val="0"/>
                  </a:spcBef>
                  <a:defRPr/>
                </a:pPr>
                <a:r>
                  <a:rPr lang="zh-CN" altLang="en-US" sz="2800" b="1">
                    <a:solidFill>
                      <a:schemeClr val="accent6"/>
                    </a:solidFill>
                  </a:rPr>
                  <a:t>系统初次运行</a:t>
                </a:r>
                <a:endParaRPr lang="zh-CN" altLang="en-US" sz="2800" b="1">
                  <a:solidFill>
                    <a:schemeClr val="accent6"/>
                  </a:solidFill>
                </a:endParaRPr>
              </a:p>
            </p:txBody>
          </p:sp>
        </p:grpSp>
        <p:grpSp>
          <p:nvGrpSpPr>
            <p:cNvPr id="17" name="iṣḻïḓè"/>
            <p:cNvGrpSpPr/>
            <p:nvPr/>
          </p:nvGrpSpPr>
          <p:grpSpPr>
            <a:xfrm>
              <a:off x="1693430" y="1679590"/>
              <a:ext cx="2536825" cy="955002"/>
              <a:chOff x="3921963" y="806351"/>
              <a:chExt cx="2536825" cy="955002"/>
            </a:xfrm>
          </p:grpSpPr>
          <p:sp>
            <p:nvSpPr>
              <p:cNvPr id="18" name="íṧľïďè"/>
              <p:cNvSpPr txBox="1"/>
              <p:nvPr/>
            </p:nvSpPr>
            <p:spPr>
              <a:xfrm>
                <a:off x="3921963" y="1134633"/>
                <a:ext cx="2160494" cy="626720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1">
                <a:normAutofit/>
              </a:bodyPr>
              <a:lstStyle/>
              <a:p>
                <a:pPr algn="ctr">
                  <a:lnSpc>
                    <a:spcPct val="120000"/>
                  </a:lnSpc>
                  <a:spcBef>
                    <a:spcPct val="0"/>
                  </a:spcBef>
                </a:pPr>
                <a:r>
                  <a:rPr lang="en-US" altLang="zh-CN" sz="1400"/>
                  <a:t>    KEIL MDK 5.14</a:t>
                </a:r>
                <a:r>
                  <a:rPr lang="zh-CN" altLang="en-US" sz="1400"/>
                  <a:t>及以上版本</a:t>
                </a:r>
                <a:endParaRPr lang="zh-CN" altLang="en-US" sz="1400"/>
              </a:p>
            </p:txBody>
          </p:sp>
          <p:sp>
            <p:nvSpPr>
              <p:cNvPr id="19" name="iṣḻidè"/>
              <p:cNvSpPr/>
              <p:nvPr/>
            </p:nvSpPr>
            <p:spPr>
              <a:xfrm>
                <a:off x="3921963" y="806351"/>
                <a:ext cx="2536825" cy="325120"/>
              </a:xfrm>
              <a:prstGeom prst="rect">
                <a:avLst/>
              </a:prstGeom>
            </p:spPr>
            <p:txBody>
              <a:bodyPr wrap="none" lIns="0" tIns="0" rIns="0" bIns="0" anchor="ctr" anchorCtr="1">
                <a:noAutofit/>
              </a:bodyPr>
              <a:lstStyle/>
              <a:p>
                <a:pPr lvl="0" indent="0" algn="ctr" defTabSz="913765">
                  <a:spcBef>
                    <a:spcPct val="0"/>
                  </a:spcBef>
                  <a:buFont typeface="+mj-lt"/>
                  <a:buNone/>
                  <a:defRPr/>
                </a:pPr>
                <a:r>
                  <a:rPr lang="zh-CN" altLang="en-US" sz="2800" b="1">
                    <a:solidFill>
                      <a:schemeClr val="accent2"/>
                    </a:solidFill>
                  </a:rPr>
                  <a:t>开发环境准备</a:t>
                </a:r>
                <a:endParaRPr lang="zh-CN" altLang="en-US" sz="2800" b="1">
                  <a:solidFill>
                    <a:schemeClr val="accent2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开发环境准备</a:t>
            </a:r>
            <a:endParaRPr lang="zh-CN" altLang="en-US"/>
          </a:p>
        </p:txBody>
      </p:sp>
      <p:sp>
        <p:nvSpPr>
          <p:cNvPr id="8" name="ïṥḻiḋè"/>
          <p:cNvSpPr txBox="1"/>
          <p:nvPr/>
        </p:nvSpPr>
        <p:spPr>
          <a:xfrm>
            <a:off x="1926590" y="2140585"/>
            <a:ext cx="5930900" cy="136271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MDK</a:t>
            </a:r>
            <a:r>
              <a:rPr lang="zh-CN" altLang="en-US" sz="1600" b="1" dirty="0">
                <a:solidFill>
                  <a:srgbClr val="C00000"/>
                </a:solidFill>
              </a:rPr>
              <a:t>下载及安装</a:t>
            </a:r>
            <a:endParaRPr lang="zh-CN" altLang="en-US" sz="16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r>
              <a:rPr lang="en-US" altLang="zh-CN" sz="1600" b="1" dirty="0">
                <a:solidFill>
                  <a:srgbClr val="C00000"/>
                </a:solidFill>
              </a:rPr>
              <a:t> </a:t>
            </a:r>
            <a:r>
              <a:rPr lang="zh-CN" altLang="en-US" sz="1200" dirty="0">
                <a:solidFill>
                  <a:schemeClr val="dk1">
                    <a:lumMod val="100000"/>
                  </a:schemeClr>
                </a:solidFill>
              </a:rPr>
              <a:t> http://www.keil.com/download</a:t>
            </a:r>
            <a:endParaRPr lang="zh-CN" altLang="en-US" sz="1200" dirty="0">
              <a:solidFill>
                <a:schemeClr val="dk1">
                  <a:lumMod val="100000"/>
                </a:schemeClr>
              </a:solidFill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1200" dirty="0">
                <a:solidFill>
                  <a:schemeClr val="dk1">
                    <a:lumMod val="100000"/>
                  </a:schemeClr>
                </a:solidFill>
              </a:rPr>
              <a:t>  </a:t>
            </a:r>
            <a:r>
              <a:rPr lang="zh-CN" altLang="en-US" sz="1200" dirty="0">
                <a:solidFill>
                  <a:schemeClr val="accent1">
                    <a:lumMod val="75000"/>
                  </a:schemeClr>
                </a:solidFill>
              </a:rPr>
              <a:t>安装软件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"/>
            </a:pPr>
            <a:r>
              <a:rPr lang="zh-CN" altLang="en-US" sz="1200" dirty="0">
                <a:solidFill>
                  <a:schemeClr val="dk1">
                    <a:lumMod val="100000"/>
                  </a:schemeClr>
                </a:solidFill>
                <a:sym typeface="+mn-ea"/>
              </a:rPr>
              <a:t>  </a:t>
            </a:r>
            <a:r>
              <a:rPr lang="zh-CN" altLang="en-US" sz="120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安装</a:t>
            </a:r>
            <a:r>
              <a:rPr lang="en-US" altLang="zh-CN" sz="120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stm32f103</a:t>
            </a:r>
            <a:r>
              <a:rPr lang="zh-CN" altLang="en-US" sz="1200" dirty="0">
                <a:solidFill>
                  <a:schemeClr val="accent1">
                    <a:lumMod val="75000"/>
                  </a:schemeClr>
                </a:solidFill>
                <a:sym typeface="+mn-ea"/>
              </a:rPr>
              <a:t>芯片数据库</a:t>
            </a: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9" name="íŝļíḋê"/>
          <p:cNvSpPr txBox="1"/>
          <p:nvPr/>
        </p:nvSpPr>
        <p:spPr>
          <a:xfrm>
            <a:off x="1926590" y="4447540"/>
            <a:ext cx="8094980" cy="1859915"/>
          </a:xfrm>
          <a:prstGeom prst="rect">
            <a:avLst/>
          </a:prstGeom>
        </p:spPr>
        <p:txBody>
          <a:bodyPr wrap="square" lIns="144000" tIns="0" rIns="0" bIns="0" anchor="t" anchorCtr="0">
            <a:normAutofit lnSpcReduction="10000"/>
          </a:bodyPr>
          <a:lstStyle/>
          <a:p>
            <a:pPr algn="l">
              <a:lnSpc>
                <a:spcPct val="120000"/>
              </a:lnSpc>
            </a:pPr>
            <a:r>
              <a:rPr lang="zh-CN" altLang="en-US" sz="1600" b="1" dirty="0">
                <a:solidFill>
                  <a:srgbClr val="C00000"/>
                </a:solidFill>
              </a:rPr>
              <a:t>示例源代码下载</a:t>
            </a:r>
            <a:endParaRPr lang="zh-CN" altLang="en-US" sz="16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r>
              <a:rPr lang="zh-CN" altLang="en-US" sz="1200" dirty="0">
                <a:solidFill>
                  <a:schemeClr val="dk1">
                    <a:lumMod val="100000"/>
                  </a:schemeClr>
                </a:solidFill>
                <a:sym typeface="+mn-ea"/>
              </a:rPr>
              <a:t>https://www.rt-thread.org/document/site/rtthread-tutorial/quick-start/rtthread_simulator_v0.1.0.7z</a:t>
            </a:r>
            <a:endParaRPr lang="zh-CN" altLang="en-US" sz="1200" dirty="0">
              <a:solidFill>
                <a:schemeClr val="dk1">
                  <a:lumMod val="100000"/>
                </a:schemeClr>
              </a:solidFill>
            </a:endParaRPr>
          </a:p>
        </p:txBody>
      </p:sp>
      <p:sp>
        <p:nvSpPr>
          <p:cNvPr id="12" name="išḻiḋê"/>
          <p:cNvSpPr/>
          <p:nvPr/>
        </p:nvSpPr>
        <p:spPr bwMode="auto">
          <a:xfrm>
            <a:off x="856615" y="2033905"/>
            <a:ext cx="612775" cy="628015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1"/>
          </a:solidFill>
          <a:ln w="9525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13" name="iśļiḍè"/>
          <p:cNvSpPr/>
          <p:nvPr/>
        </p:nvSpPr>
        <p:spPr bwMode="auto">
          <a:xfrm>
            <a:off x="855980" y="4387850"/>
            <a:ext cx="613410" cy="597535"/>
          </a:xfrm>
          <a:custGeom>
            <a:avLst/>
            <a:gdLst/>
            <a:ahLst/>
            <a:cxnLst>
              <a:cxn ang="0">
                <a:pos x="27" y="55"/>
              </a:cxn>
              <a:cxn ang="0">
                <a:pos x="0" y="27"/>
              </a:cxn>
              <a:cxn ang="0">
                <a:pos x="27" y="0"/>
              </a:cxn>
              <a:cxn ang="0">
                <a:pos x="55" y="27"/>
              </a:cxn>
              <a:cxn ang="0">
                <a:pos x="27" y="55"/>
              </a:cxn>
              <a:cxn ang="0">
                <a:pos x="45" y="20"/>
              </a:cxn>
              <a:cxn ang="0">
                <a:pos x="42" y="17"/>
              </a:cxn>
              <a:cxn ang="0">
                <a:pos x="40" y="16"/>
              </a:cxn>
              <a:cxn ang="0">
                <a:pos x="38" y="17"/>
              </a:cxn>
              <a:cxn ang="0">
                <a:pos x="24" y="31"/>
              </a:cxn>
              <a:cxn ang="0">
                <a:pos x="16" y="23"/>
              </a:cxn>
              <a:cxn ang="0">
                <a:pos x="14" y="22"/>
              </a:cxn>
              <a:cxn ang="0">
                <a:pos x="13" y="23"/>
              </a:cxn>
              <a:cxn ang="0">
                <a:pos x="9" y="26"/>
              </a:cxn>
              <a:cxn ang="0">
                <a:pos x="9" y="28"/>
              </a:cxn>
              <a:cxn ang="0">
                <a:pos x="9" y="30"/>
              </a:cxn>
              <a:cxn ang="0">
                <a:pos x="22" y="43"/>
              </a:cxn>
              <a:cxn ang="0">
                <a:pos x="24" y="43"/>
              </a:cxn>
              <a:cxn ang="0">
                <a:pos x="26" y="43"/>
              </a:cxn>
              <a:cxn ang="0">
                <a:pos x="45" y="23"/>
              </a:cxn>
              <a:cxn ang="0">
                <a:pos x="46" y="22"/>
              </a:cxn>
              <a:cxn ang="0">
                <a:pos x="45" y="20"/>
              </a:cxn>
            </a:cxnLst>
            <a:rect l="0" t="0" r="r" b="b"/>
            <a:pathLst>
              <a:path w="55" h="55">
                <a:moveTo>
                  <a:pt x="27" y="55"/>
                </a:moveTo>
                <a:cubicBezTo>
                  <a:pt x="12" y="55"/>
                  <a:pt x="0" y="42"/>
                  <a:pt x="0" y="27"/>
                </a:cubicBezTo>
                <a:cubicBezTo>
                  <a:pt x="0" y="12"/>
                  <a:pt x="12" y="0"/>
                  <a:pt x="27" y="0"/>
                </a:cubicBezTo>
                <a:cubicBezTo>
                  <a:pt x="42" y="0"/>
                  <a:pt x="55" y="12"/>
                  <a:pt x="55" y="27"/>
                </a:cubicBezTo>
                <a:cubicBezTo>
                  <a:pt x="55" y="42"/>
                  <a:pt x="42" y="55"/>
                  <a:pt x="27" y="55"/>
                </a:cubicBezTo>
                <a:close/>
                <a:moveTo>
                  <a:pt x="45" y="20"/>
                </a:moveTo>
                <a:cubicBezTo>
                  <a:pt x="42" y="17"/>
                  <a:pt x="42" y="17"/>
                  <a:pt x="42" y="17"/>
                </a:cubicBezTo>
                <a:cubicBezTo>
                  <a:pt x="41" y="16"/>
                  <a:pt x="41" y="16"/>
                  <a:pt x="40" y="16"/>
                </a:cubicBezTo>
                <a:cubicBezTo>
                  <a:pt x="39" y="16"/>
                  <a:pt x="39" y="16"/>
                  <a:pt x="38" y="17"/>
                </a:cubicBezTo>
                <a:cubicBezTo>
                  <a:pt x="24" y="31"/>
                  <a:pt x="24" y="31"/>
                  <a:pt x="24" y="31"/>
                </a:cubicBezTo>
                <a:cubicBezTo>
                  <a:pt x="16" y="23"/>
                  <a:pt x="16" y="23"/>
                  <a:pt x="16" y="23"/>
                </a:cubicBezTo>
                <a:cubicBezTo>
                  <a:pt x="15" y="23"/>
                  <a:pt x="15" y="22"/>
                  <a:pt x="14" y="22"/>
                </a:cubicBezTo>
                <a:cubicBezTo>
                  <a:pt x="14" y="22"/>
                  <a:pt x="13" y="23"/>
                  <a:pt x="13" y="23"/>
                </a:cubicBezTo>
                <a:cubicBezTo>
                  <a:pt x="9" y="26"/>
                  <a:pt x="9" y="26"/>
                  <a:pt x="9" y="26"/>
                </a:cubicBezTo>
                <a:cubicBezTo>
                  <a:pt x="9" y="27"/>
                  <a:pt x="9" y="27"/>
                  <a:pt x="9" y="28"/>
                </a:cubicBezTo>
                <a:cubicBezTo>
                  <a:pt x="9" y="29"/>
                  <a:pt x="9" y="29"/>
                  <a:pt x="9" y="30"/>
                </a:cubicBezTo>
                <a:cubicBezTo>
                  <a:pt x="22" y="43"/>
                  <a:pt x="22" y="43"/>
                  <a:pt x="22" y="43"/>
                </a:cubicBezTo>
                <a:cubicBezTo>
                  <a:pt x="23" y="43"/>
                  <a:pt x="23" y="43"/>
                  <a:pt x="24" y="43"/>
                </a:cubicBezTo>
                <a:cubicBezTo>
                  <a:pt x="25" y="43"/>
                  <a:pt x="25" y="43"/>
                  <a:pt x="26" y="4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6" y="22"/>
                  <a:pt x="46" y="22"/>
                </a:cubicBezTo>
                <a:cubicBezTo>
                  <a:pt x="46" y="21"/>
                  <a:pt x="45" y="20"/>
                  <a:pt x="45" y="20"/>
                </a:cubicBezTo>
                <a:close/>
              </a:path>
            </a:pathLst>
          </a:custGeom>
          <a:solidFill>
            <a:schemeClr val="accent2"/>
          </a:solidFill>
          <a:ln w="9525">
            <a:noFill/>
            <a:round/>
          </a:ln>
        </p:spPr>
        <p:txBody>
          <a:bodyPr anchor="ctr"/>
          <a:lstStyle/>
          <a:p>
            <a:pPr algn="ctr"/>
          </a:p>
        </p:txBody>
      </p:sp>
      <p:sp>
        <p:nvSpPr>
          <p:cNvPr id="3" name="文本框 2"/>
          <p:cNvSpPr txBox="1"/>
          <p:nvPr/>
        </p:nvSpPr>
        <p:spPr>
          <a:xfrm>
            <a:off x="1636395" y="1511935"/>
            <a:ext cx="86753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本系列视频 基于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RT_Thread3.1.0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版内核，硬件平台为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STM32F103XE</a:t>
            </a:r>
            <a:endParaRPr lang="en-US" altLang="zh-CN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代码目录介绍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/>
        </p:nvGraphicFramePr>
        <p:xfrm>
          <a:off x="3815715" y="3164840"/>
          <a:ext cx="675767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/>
                <a:gridCol w="530987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rgbClr val="C00000"/>
                          </a:solidFill>
                        </a:rPr>
                        <a:t>src</a:t>
                      </a:r>
                      <a:endParaRPr lang="en-US" altLang="zh-CN" b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RT-Thread</a:t>
                      </a: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内核代码文件</a:t>
                      </a: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libcpu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各类芯片</a:t>
                      </a:r>
                      <a:r>
                        <a:rPr lang="en-US" altLang="zh-CN"/>
                        <a:t>/</a:t>
                      </a:r>
                      <a:r>
                        <a:rPr lang="zh-CN" altLang="zh-CN"/>
                        <a:t>内核移植代码，比如</a:t>
                      </a:r>
                      <a:r>
                        <a:rPr lang="en-US" altLang="zh-CN"/>
                        <a:t>STM32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include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RT-Thread</a:t>
                      </a:r>
                      <a:r>
                        <a:rPr lang="zh-CN" altLang="en-US"/>
                        <a:t>内核头文件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components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RT-Thread</a:t>
                      </a:r>
                      <a:r>
                        <a:rPr lang="zh-CN" altLang="en-US"/>
                        <a:t>外部组件代码，如</a:t>
                      </a:r>
                      <a:r>
                        <a:rPr lang="en-US" altLang="zh-CN"/>
                        <a:t>Finsh</a:t>
                      </a:r>
                      <a:r>
                        <a:rPr lang="zh-CN" altLang="en-US"/>
                        <a:t>、</a:t>
                      </a:r>
                      <a:r>
                        <a:rPr lang="en-US" altLang="zh-CN"/>
                        <a:t>Lwip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ïṥḻiḋè"/>
          <p:cNvSpPr txBox="1"/>
          <p:nvPr/>
        </p:nvSpPr>
        <p:spPr>
          <a:xfrm>
            <a:off x="1605915" y="1514475"/>
            <a:ext cx="6153785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</a:rPr>
              <a:t>RT-Thread</a:t>
            </a:r>
            <a:r>
              <a:rPr lang="zh-CN" altLang="en-US" sz="2000" b="1" dirty="0">
                <a:solidFill>
                  <a:srgbClr val="C00000"/>
                </a:solidFill>
              </a:rPr>
              <a:t>源码</a:t>
            </a:r>
            <a:endParaRPr lang="zh-CN" altLang="en-US" sz="20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2655570"/>
            <a:ext cx="1960880" cy="25425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代码目录介绍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/>
        </p:nvGraphicFramePr>
        <p:xfrm>
          <a:off x="3776980" y="2886710"/>
          <a:ext cx="6757670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420"/>
                <a:gridCol w="51752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rgbClr val="C00000"/>
                          </a:solidFill>
                        </a:rPr>
                        <a:t>applications</a:t>
                      </a:r>
                      <a:endParaRPr lang="en-US" altLang="zh-CN" b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用户应用代码</a:t>
                      </a: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drivers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RT-Thread</a:t>
                      </a:r>
                      <a:r>
                        <a:rPr lang="zh-CN" altLang="en-US"/>
                        <a:t>的驱动，不同平台底层驱动具体实现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kernel-sample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内核例程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Libraries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STM32</a:t>
                      </a:r>
                      <a:r>
                        <a:rPr lang="zh-CN" altLang="en-US"/>
                        <a:t>芯片固件库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rt-thread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RT-Thread</a:t>
                      </a:r>
                      <a:r>
                        <a:rPr lang="zh-CN" altLang="en-US"/>
                        <a:t>源代码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ïṥḻiḋè"/>
          <p:cNvSpPr txBox="1"/>
          <p:nvPr/>
        </p:nvSpPr>
        <p:spPr>
          <a:xfrm>
            <a:off x="1605915" y="1514475"/>
            <a:ext cx="6153785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工程源码</a:t>
            </a:r>
            <a:endParaRPr lang="zh-CN" altLang="en-US" sz="20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5915" y="2346960"/>
            <a:ext cx="2171065" cy="2984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代码目录介绍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/>
        </p:nvGraphicFramePr>
        <p:xfrm>
          <a:off x="4036060" y="2467610"/>
          <a:ext cx="675767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2420"/>
                <a:gridCol w="51752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rgbClr val="C00000"/>
                          </a:solidFill>
                        </a:rPr>
                        <a:t>Applications</a:t>
                      </a:r>
                      <a:endParaRPr lang="en-US" altLang="zh-CN" b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b="0">
                          <a:solidFill>
                            <a:schemeClr val="tx1"/>
                          </a:solidFill>
                        </a:rPr>
                        <a:t>存放用户应用代码</a:t>
                      </a:r>
                      <a:endParaRPr lang="zh-CN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Drivers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t>存放RT-Thread底层的驱动代码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STM32_HAL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存放STM32的固件库文件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Kernel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t>存放RT-Thread内核核心代码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CORTEX-M3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t>存放ARM Cortex-M3移植代码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DeviceDrivers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存放RT-Thread驱动框架源码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finsh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存放RT</a:t>
                      </a:r>
                      <a:r>
                        <a:rPr lang="en-US" altLang="zh-CN"/>
                        <a:t>-</a:t>
                      </a:r>
                      <a:r>
                        <a:rPr lang="zh-CN" altLang="en-US"/>
                        <a:t>Thread命令行finsh命令行组件</a:t>
                      </a:r>
                      <a:endParaRPr lang="zh-CN" altLang="en-US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>
                          <a:solidFill>
                            <a:srgbClr val="C00000"/>
                          </a:solidFill>
                        </a:rPr>
                        <a:t>kernel-sample</a:t>
                      </a:r>
                      <a:endParaRPr lang="en-US" altLang="zh-CN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t>存放RT-Thread的内核例程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ïṥḻiḋè"/>
          <p:cNvSpPr txBox="1"/>
          <p:nvPr/>
        </p:nvSpPr>
        <p:spPr>
          <a:xfrm>
            <a:off x="1605915" y="1514475"/>
            <a:ext cx="6153785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工程目录</a:t>
            </a:r>
            <a:endParaRPr lang="zh-CN" altLang="en-US" sz="20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5" name="图片 4" descr="J_F]G]_CA8J%K50M[~`2Y8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" y="2315210"/>
            <a:ext cx="290068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系统初次运行</a:t>
            </a:r>
            <a:endParaRPr lang="zh-CN" altLang="en-US"/>
          </a:p>
        </p:txBody>
      </p:sp>
      <p:sp>
        <p:nvSpPr>
          <p:cNvPr id="4" name="ïṥḻiḋè"/>
          <p:cNvSpPr txBox="1"/>
          <p:nvPr/>
        </p:nvSpPr>
        <p:spPr>
          <a:xfrm>
            <a:off x="716280" y="1575435"/>
            <a:ext cx="2009140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启动信息</a:t>
            </a:r>
            <a:endParaRPr lang="zh-CN" altLang="en-US" sz="20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pic>
        <p:nvPicPr>
          <p:cNvPr id="6" name="图片 5" descr="GC}]`V_PEO7AGDAZ2Q$]XP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2045" y="1962785"/>
            <a:ext cx="4194175" cy="1184275"/>
          </a:xfrm>
          <a:prstGeom prst="rect">
            <a:avLst/>
          </a:prstGeom>
        </p:spPr>
      </p:pic>
      <p:sp>
        <p:nvSpPr>
          <p:cNvPr id="7" name="ïṥḻiḋè"/>
          <p:cNvSpPr txBox="1"/>
          <p:nvPr/>
        </p:nvSpPr>
        <p:spPr>
          <a:xfrm>
            <a:off x="716280" y="3820795"/>
            <a:ext cx="2465705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r>
              <a:rPr lang="en-US" altLang="zh-CN" sz="2000" b="1" dirty="0">
                <a:solidFill>
                  <a:srgbClr val="C00000"/>
                </a:solidFill>
              </a:rPr>
              <a:t>MSH</a:t>
            </a:r>
            <a:r>
              <a:rPr lang="zh-CN" altLang="en-US" sz="2000" b="1" dirty="0">
                <a:solidFill>
                  <a:srgbClr val="C00000"/>
                </a:solidFill>
              </a:rPr>
              <a:t>命令简单测试</a:t>
            </a:r>
            <a:endParaRPr lang="zh-CN" altLang="en-US" sz="20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60600" y="4319905"/>
            <a:ext cx="614616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help</a:t>
            </a:r>
            <a:endParaRPr lang="en-US" altLang="zh-CN"/>
          </a:p>
          <a:p>
            <a:r>
              <a:rPr lang="en-US" altLang="zh-CN"/>
              <a:t>version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系统启动过程</a:t>
            </a:r>
            <a:endParaRPr lang="zh-CN" altLang="en-US"/>
          </a:p>
        </p:txBody>
      </p:sp>
      <p:sp>
        <p:nvSpPr>
          <p:cNvPr id="4" name="ïṥḻiḋè"/>
          <p:cNvSpPr txBox="1"/>
          <p:nvPr/>
        </p:nvSpPr>
        <p:spPr>
          <a:xfrm>
            <a:off x="716280" y="1575435"/>
            <a:ext cx="2009140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endParaRPr lang="zh-CN" altLang="en-US" sz="20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3" name="ïṥḻiḋè"/>
          <p:cNvSpPr txBox="1"/>
          <p:nvPr/>
        </p:nvSpPr>
        <p:spPr>
          <a:xfrm>
            <a:off x="1605915" y="1514475"/>
            <a:ext cx="8561705" cy="387350"/>
          </a:xfrm>
          <a:prstGeom prst="rect">
            <a:avLst/>
          </a:prstGeom>
        </p:spPr>
        <p:txBody>
          <a:bodyPr wrap="square" lIns="144000" tIns="0" rIns="0" bIns="0" anchor="t" anchorCtr="0">
            <a:noAutofit/>
          </a:bodyPr>
          <a:p>
            <a:pPr algn="l">
              <a:lnSpc>
                <a:spcPct val="120000"/>
              </a:lnSpc>
            </a:pPr>
            <a:r>
              <a:rPr lang="zh-CN" altLang="en-US" sz="2000" b="1" dirty="0">
                <a:solidFill>
                  <a:schemeClr val="accent6">
                    <a:lumMod val="75000"/>
                  </a:schemeClr>
                </a:solidFill>
              </a:rPr>
              <a:t>裸机代码启动顺序</a:t>
            </a:r>
            <a:r>
              <a:rPr lang="zh-CN" altLang="en-US" sz="2000" b="1" dirty="0">
                <a:solidFill>
                  <a:srgbClr val="C00000"/>
                </a:solidFill>
              </a:rPr>
              <a:t>                                                                   </a:t>
            </a:r>
            <a:r>
              <a:rPr lang="en-US" altLang="zh-CN" sz="2000" b="1" dirty="0">
                <a:solidFill>
                  <a:srgbClr val="C00000"/>
                </a:solidFill>
              </a:rPr>
              <a:t>RT-Thread</a:t>
            </a:r>
            <a:r>
              <a:rPr lang="zh-CN" altLang="en-US" sz="2000" b="1" dirty="0">
                <a:solidFill>
                  <a:srgbClr val="C00000"/>
                </a:solidFill>
              </a:rPr>
              <a:t>启动顺序</a:t>
            </a:r>
            <a:endParaRPr lang="zh-CN" altLang="en-US" sz="2000" b="1" dirty="0">
              <a:solidFill>
                <a:srgbClr val="C00000"/>
              </a:solidFill>
            </a:endParaRPr>
          </a:p>
          <a:p>
            <a:pPr algn="l">
              <a:lnSpc>
                <a:spcPct val="120000"/>
              </a:lnSpc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  <a:p>
            <a:pPr marL="171450" indent="-171450" algn="l">
              <a:lnSpc>
                <a:spcPct val="120000"/>
              </a:lnSpc>
              <a:buFont typeface="Wingdings" panose="05000000000000000000" charset="0"/>
              <a:buChar char=""/>
            </a:pPr>
            <a:endParaRPr lang="zh-CN" altLang="en-US" sz="1200" dirty="0">
              <a:solidFill>
                <a:schemeClr val="accent1">
                  <a:lumMod val="75000"/>
                </a:schemeClr>
              </a:solidFill>
              <a:sym typeface="+mn-ea"/>
            </a:endParaRPr>
          </a:p>
        </p:txBody>
      </p:sp>
      <p:graphicFrame>
        <p:nvGraphicFramePr>
          <p:cNvPr id="11" name="对象 10"/>
          <p:cNvGraphicFramePr/>
          <p:nvPr/>
        </p:nvGraphicFramePr>
        <p:xfrm>
          <a:off x="1958340" y="2978785"/>
          <a:ext cx="1677670" cy="10274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1" imgW="1384300" imgH="1016000" progId="Visio.Drawing.11">
                  <p:embed/>
                </p:oleObj>
              </mc:Choice>
              <mc:Fallback>
                <p:oleObj name="" r:id="rId1" imgW="1384300" imgH="1016000" progId="Visio.Drawing.11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58340" y="2978785"/>
                        <a:ext cx="1677670" cy="10274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/>
          <p:nvPr/>
        </p:nvGraphicFramePr>
        <p:xfrm>
          <a:off x="7924800" y="2322195"/>
          <a:ext cx="1758315" cy="3100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" name="" r:id="rId3" imgW="1384300" imgH="3543300" progId="Visio.Drawing.11">
                  <p:embed/>
                </p:oleObj>
              </mc:Choice>
              <mc:Fallback>
                <p:oleObj name="" r:id="rId3" imgW="1384300" imgH="3543300" progId="Visio.Drawing.11">
                  <p:embed/>
                  <p:pic>
                    <p:nvPicPr>
                      <p:cNvPr id="0" name="图片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924800" y="2322195"/>
                        <a:ext cx="1758315" cy="31007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ISLIDE.DIAGRAM" val="0f4157a8-cc53-4451-b641-b93f4ec538e9"/>
</p:tagLst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1533</Words>
  <Application>WPS 演示</Application>
  <PresentationFormat>宽屏</PresentationFormat>
  <Paragraphs>169</Paragraphs>
  <Slides>10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Arial Unicode MS</vt:lpstr>
      <vt:lpstr>微软雅黑</vt:lpstr>
      <vt:lpstr>Wingdings</vt:lpstr>
      <vt:lpstr>Calibri</vt:lpstr>
      <vt:lpstr>Arial Unicode MS</vt:lpstr>
      <vt:lpstr>等线</vt:lpstr>
      <vt:lpstr>Custom Design</vt:lpstr>
      <vt:lpstr>Visio.Drawing.11</vt:lpstr>
      <vt:lpstr>Visio.Drawing.11</vt:lpstr>
      <vt:lpstr>RT-Thread入门视频教程</vt:lpstr>
      <vt:lpstr>PowerPoint 演示文稿</vt:lpstr>
      <vt:lpstr>PowerPoint 演示文稿</vt:lpstr>
      <vt:lpstr>内容提要</vt:lpstr>
      <vt:lpstr>开发环境准备</vt:lpstr>
      <vt:lpstr>代码目录介绍</vt:lpstr>
      <vt:lpstr>代码目录介绍</vt:lpstr>
      <vt:lpstr>代码目录介绍</vt:lpstr>
      <vt:lpstr>系统初次运行</vt:lpstr>
      <vt:lpstr>系统启动过程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pxxiong</dc:creator>
  <cp:lastModifiedBy>Wk</cp:lastModifiedBy>
  <cp:revision>176</cp:revision>
  <dcterms:created xsi:type="dcterms:W3CDTF">2014-06-30T01:36:00Z</dcterms:created>
  <dcterms:modified xsi:type="dcterms:W3CDTF">2018-11-04T12:58:12Z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2052-10.1.0.7643</vt:lpwstr>
  </property>
</Properties>
</file>