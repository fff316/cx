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407" r:id="rId4"/>
    <p:sldId id="412" r:id="rId6"/>
    <p:sldId id="409" r:id="rId7"/>
    <p:sldId id="408" r:id="rId8"/>
    <p:sldId id="40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7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5748" y="4844291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第十五讲：</a:t>
            </a:r>
            <a:r>
              <a:rPr lang="en-US" altLang="zh-CN" sz="2800" dirty="0"/>
              <a:t> </a:t>
            </a:r>
            <a:r>
              <a:rPr lang="zh-CN" altLang="en-US" sz="2800" dirty="0"/>
              <a:t>软件定时器的使用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软件定时器介绍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609600" y="2191385"/>
            <a:ext cx="8648700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r>
              <a:t>软件定时器是由操作系统提供的一类系统接口，它构建在硬件定时器基础之上</a:t>
            </a:r>
            <a:r>
              <a:rPr lang="zh-CN"/>
              <a:t>（系统滴答定时器）。软件定时器</a:t>
            </a:r>
            <a:r>
              <a:t>使系统能够提供不受数目限制的定时器服务。</a:t>
            </a:r>
          </a:p>
          <a:p/>
          <a:p>
            <a:r>
              <a:t>        RT-Thread 操作系统提供</a:t>
            </a:r>
            <a:r>
              <a:rPr lang="zh-CN"/>
              <a:t>的软件定时器</a:t>
            </a:r>
            <a:r>
              <a:t>，以系统节拍（OS Tick）的时间长度为</a:t>
            </a:r>
            <a:r>
              <a:rPr lang="zh-CN"/>
              <a:t>定时</a:t>
            </a:r>
            <a:r>
              <a:t>单位，</a:t>
            </a:r>
            <a:r>
              <a:rPr>
                <a:sym typeface="+mn-ea"/>
              </a:rPr>
              <a:t>提供了基于</a:t>
            </a:r>
            <a:r>
              <a:rPr lang="zh-CN">
                <a:sym typeface="+mn-ea"/>
              </a:rPr>
              <a:t>系统</a:t>
            </a:r>
            <a:r>
              <a:rPr>
                <a:sym typeface="+mn-ea"/>
              </a:rPr>
              <a:t>节拍整数倍的定时能力</a:t>
            </a:r>
            <a:r>
              <a:rPr lang="zh-CN">
                <a:sym typeface="+mn-ea"/>
              </a:rPr>
              <a:t>，</a:t>
            </a:r>
            <a:r>
              <a:t>即定时数值是 OS Tick 的整数倍</a:t>
            </a:r>
            <a:r>
              <a:rPr lang="zh-CN"/>
              <a:t>。</a:t>
            </a:r>
            <a:r>
              <a:t>例如一个 OS Tick 是 10ms，那么上层软件定时器只能</a:t>
            </a:r>
            <a:r>
              <a:rPr lang="zh-CN"/>
              <a:t>提供</a:t>
            </a:r>
            <a:r>
              <a:t> 10ms，20ms，100ms </a:t>
            </a:r>
            <a:r>
              <a:rPr lang="zh-CN"/>
              <a:t>等时间精度的定时服务</a:t>
            </a:r>
            <a:r>
              <a:t>，而不能定时为 15ms</a:t>
            </a:r>
            <a:r>
              <a:rPr lang="zh-CN"/>
              <a:t>、</a:t>
            </a:r>
            <a:r>
              <a:rPr lang="en-US" altLang="zh-CN"/>
              <a:t>25ms</a:t>
            </a:r>
            <a:r>
              <a:rPr lang="zh-CN" altLang="en-US"/>
              <a:t>、</a:t>
            </a:r>
            <a:r>
              <a:rPr lang="en-US" altLang="zh-CN"/>
              <a:t>35ms</a:t>
            </a:r>
            <a:r>
              <a:rPr lang="zh-CN" altLang="en-US"/>
              <a:t>等</a:t>
            </a:r>
            <a:r>
              <a:t>。</a:t>
            </a:r>
            <a:r>
              <a:rPr lang="zh-CN" altLang="en-US"/>
              <a:t>        </a:t>
            </a:r>
            <a:endParaRPr lang="zh-CN" altLang="en-US"/>
          </a:p>
          <a:p>
            <a:endParaRPr lang="zh-CN" altLang="en-US" sz="2000"/>
          </a:p>
          <a:p>
            <a:r>
              <a:rPr lang="zh-CN" altLang="en-US" sz="2000"/>
              <a:t>        </a:t>
            </a:r>
            <a:r>
              <a:rPr lang="zh-CN" altLang="en-US"/>
              <a:t>当软件定时器所设定的定时时间到了后，会调用用户设置的定时器</a:t>
            </a:r>
            <a:r>
              <a:rPr lang="en-US" altLang="zh-CN"/>
              <a:t>timeout</a:t>
            </a:r>
            <a:r>
              <a:rPr lang="zh-CN" altLang="en-US"/>
              <a:t>回调函数，用户需要定时运行的程序会在回调函数中得到处理。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定时器模式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09600" y="1658620"/>
            <a:ext cx="864870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      </a:t>
            </a:r>
            <a:r>
              <a:rPr lang="en-US" sz="2000" b="1"/>
              <a:t>HARDTIMER</a:t>
            </a:r>
            <a:r>
              <a:rPr lang="zh-CN" altLang="en-US" sz="2000" b="1"/>
              <a:t>模式</a:t>
            </a:r>
            <a:endParaRPr lang="zh-CN" altLang="en-US" sz="20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r>
              <a:rPr lang="en-US"/>
              <a:t>          HARD_TIMER 模式的定时器超时函数在中断上下文环境中执行，</a:t>
            </a:r>
            <a:r>
              <a:rPr lang="zh-CN" altLang="en-US"/>
              <a:t>此模式在定时器初始化时</a:t>
            </a:r>
            <a:r>
              <a:rPr lang="en-US"/>
              <a:t>指定。在中断上下文环境中执行时，对于超时函数的要求与中断服务例程的要求相同：执行时间应该尽量短，执行时不应导致当前上下文挂起</a:t>
            </a:r>
            <a:r>
              <a:rPr lang="zh-CN" altLang="en-US"/>
              <a:t>。</a:t>
            </a:r>
            <a:r>
              <a:rPr lang="zh-CN" altLang="en-US">
                <a:sym typeface="+mn-ea"/>
              </a:rPr>
              <a:t> HARD_TIMER 模式是</a:t>
            </a:r>
            <a:r>
              <a:rPr lang="zh-CN" altLang="en-US"/>
              <a:t>RT-Thread 软件定时器的默认方式。</a:t>
            </a:r>
            <a:endParaRPr lang="zh-CN" alt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  </a:t>
            </a:r>
            <a:r>
              <a:rPr lang="en-US" sz="2000" b="1"/>
              <a:t>SOFTTIMER</a:t>
            </a:r>
            <a:r>
              <a:rPr lang="zh-CN" altLang="en-US" sz="2000" b="1"/>
              <a:t>模式</a:t>
            </a:r>
            <a:endParaRPr lang="zh-CN" altLang="en-US" sz="2000" b="1"/>
          </a:p>
          <a:p>
            <a:pPr marL="285750" indent="-285750">
              <a:buFont typeface="Wingdings" panose="05000000000000000000" charset="0"/>
              <a:buChar char="Ø"/>
            </a:pPr>
            <a:endParaRPr lang="zh-CN"/>
          </a:p>
          <a:p>
            <a:r>
              <a:rPr lang="zh-CN" altLang="en-US"/>
              <a:t>          </a:t>
            </a:r>
            <a:r>
              <a:rPr lang="en-US" altLang="zh-CN"/>
              <a:t>SOFTTIMER</a:t>
            </a:r>
            <a:r>
              <a:rPr lang="zh-CN" altLang="en-US"/>
              <a:t>模式的定时器超时函数在系统的</a:t>
            </a:r>
            <a:r>
              <a:rPr lang="en-US" altLang="zh-CN"/>
              <a:t>timer</a:t>
            </a:r>
            <a:r>
              <a:rPr lang="zh-CN" altLang="en-US"/>
              <a:t>线程的线程上下</a:t>
            </a:r>
            <a:endParaRPr lang="zh-CN" altLang="en-US"/>
          </a:p>
          <a:p>
            <a:r>
              <a:rPr lang="zh-CN" altLang="en-US"/>
              <a:t>文中执行。通过宏定义 RT_USING_TIMER_SOFT 来决定是否启用该</a:t>
            </a:r>
            <a:endParaRPr lang="zh-CN" altLang="en-US"/>
          </a:p>
          <a:p>
            <a:r>
              <a:rPr lang="zh-CN" altLang="en-US"/>
              <a:t>模式。当启用</a:t>
            </a:r>
            <a:r>
              <a:rPr lang="en-US" altLang="zh-CN"/>
              <a:t>SOFTTIMER</a:t>
            </a:r>
            <a:r>
              <a:rPr lang="zh-CN" altLang="en-US"/>
              <a:t> 模式后，我们可以在定时器初始化时指定</a:t>
            </a:r>
            <a:endParaRPr lang="zh-CN" altLang="en-US"/>
          </a:p>
          <a:p>
            <a:r>
              <a:rPr lang="zh-CN" altLang="en-US"/>
              <a:t>定时器工作在</a:t>
            </a:r>
            <a:r>
              <a:rPr lang="en-US" altLang="zh-CN"/>
              <a:t>SOFTTIMER</a:t>
            </a:r>
            <a:r>
              <a:rPr lang="zh-CN" altLang="en-US"/>
              <a:t>模式。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 descr="tim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6525" y="3203575"/>
            <a:ext cx="4499610" cy="2897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软件定时器控制块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在 RT-Thread 中，</a:t>
            </a:r>
            <a:r>
              <a:rPr lang="zh-CN"/>
              <a:t>软件定时器</a:t>
            </a:r>
            <a:r>
              <a:t>控制块是操作系统用于管理</a:t>
            </a:r>
            <a:r>
              <a:rPr lang="zh-CN"/>
              <a:t>软件定时器</a:t>
            </a:r>
            <a:r>
              <a:t>的一个数据结构</a:t>
            </a:r>
            <a:r>
              <a:rPr lang="zh-CN"/>
              <a:t>。</a:t>
            </a:r>
            <a:endParaRPr lang="zh-CN"/>
          </a:p>
          <a:p>
            <a:endParaRPr lang="zh-CN"/>
          </a:p>
          <a:p>
            <a:r>
              <a:t>        struct </a:t>
            </a:r>
            <a:r>
              <a:rPr>
                <a:solidFill>
                  <a:schemeClr val="tx2"/>
                </a:solidFill>
              </a:rPr>
              <a:t>rt_timer</a:t>
            </a:r>
            <a:endParaRPr>
              <a:solidFill>
                <a:schemeClr val="tx2"/>
              </a:solidFill>
            </a:endParaRPr>
          </a:p>
          <a:p>
            <a:r>
              <a:t>        {</a:t>
            </a:r>
          </a:p>
          <a:p>
            <a:r>
              <a:t>            struct rt_object parent;                                           /**&lt; inherit from rt_object */</a:t>
            </a:r>
          </a:p>
          <a:p>
            <a:r>
              <a:t>            rt_list_t        row[RT_TIMER_SKIP_LIST_LEVEL];</a:t>
            </a:r>
          </a:p>
          <a:p>
            <a:r>
              <a:t>            void (*timeout_func)(void *parameter);              /**&lt; timeout function */</a:t>
            </a:r>
          </a:p>
          <a:p>
            <a:r>
              <a:t>            void            *parameter;                                           /**&lt; timeout function's parameter */</a:t>
            </a:r>
          </a:p>
          <a:p>
            <a:r>
              <a:t>            rt_tick_t        init_tick;                                              /**&lt; timer timeout tick */</a:t>
            </a:r>
          </a:p>
          <a:p>
            <a:r>
              <a:t>            rt_tick_t        timeout_tick;                                     /**&lt; timeout tick */</a:t>
            </a:r>
          </a:p>
          <a:p>
            <a:r>
              <a:t>        };</a:t>
            </a:r>
          </a:p>
          <a:p>
            <a:r>
              <a:t>        typedef struct rt_timer *</a:t>
            </a:r>
            <a:r>
              <a:rPr>
                <a:solidFill>
                  <a:schemeClr val="tx2"/>
                </a:solidFill>
              </a:rPr>
              <a:t>rt_timer_t</a:t>
            </a:r>
            <a:endParaRPr>
              <a:solidFill>
                <a:schemeClr val="tx2"/>
              </a:solidFill>
            </a:endParaRPr>
          </a:p>
          <a:p>
            <a:r>
              <a:t>         </a:t>
            </a:r>
          </a:p>
          <a:p>
            <a:r>
              <a:t>           </a:t>
            </a:r>
            <a:r>
              <a:rPr lang="zh-CN"/>
              <a:t>定义静态软件定时器：</a:t>
            </a:r>
            <a:r>
              <a:rPr>
                <a:solidFill>
                  <a:schemeClr val="tx2"/>
                </a:solidFill>
                <a:sym typeface="+mn-ea"/>
              </a:rPr>
              <a:t>structrt_timer </a:t>
            </a:r>
            <a:r>
              <a:rPr>
                <a:solidFill>
                  <a:schemeClr val="tx1"/>
                </a:solidFill>
                <a:sym typeface="+mn-ea"/>
              </a:rPr>
              <a:t>  </a:t>
            </a:r>
            <a:r>
              <a:rPr lang="en-US">
                <a:solidFill>
                  <a:schemeClr val="tx1"/>
                </a:solidFill>
                <a:sym typeface="+mn-ea"/>
              </a:rPr>
              <a:t>static_timer</a:t>
            </a:r>
            <a:endParaRPr lang="en-US">
              <a:solidFill>
                <a:schemeClr val="tx2"/>
              </a:solidFill>
              <a:sym typeface="+mn-ea"/>
            </a:endParaRPr>
          </a:p>
          <a:p>
            <a:r>
              <a:rPr lang="en-US">
                <a:solidFill>
                  <a:schemeClr val="tx2"/>
                </a:solidFill>
                <a:sym typeface="+mn-ea"/>
              </a:rPr>
              <a:t>           </a:t>
            </a:r>
            <a:r>
              <a:rPr lang="zh-CN">
                <a:sym typeface="+mn-ea"/>
              </a:rPr>
              <a:t>定义动态软件定时器：</a:t>
            </a:r>
            <a:r>
              <a:rPr>
                <a:solidFill>
                  <a:schemeClr val="tx2"/>
                </a:solidFill>
                <a:sym typeface="+mn-ea"/>
              </a:rPr>
              <a:t>rt_timer_t  </a:t>
            </a:r>
            <a:r>
              <a:rPr>
                <a:solidFill>
                  <a:schemeClr val="tx1"/>
                </a:solidFill>
                <a:sym typeface="+mn-ea"/>
              </a:rPr>
              <a:t>dynamic_</a:t>
            </a:r>
            <a:r>
              <a:rPr lang="en-US">
                <a:solidFill>
                  <a:schemeClr val="tx1"/>
                </a:solidFill>
                <a:sym typeface="+mn-ea"/>
              </a:rPr>
              <a:t>timer</a:t>
            </a:r>
            <a:endParaRPr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软件定时器的操作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631950" y="171640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初始化与脱离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632585" y="308419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创建与删除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66644" y="150043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67279" y="2887289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671320" y="2088515"/>
            <a:ext cx="10540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void rt_timer_init(rt_timer_t  timer,  const char *name,  void (*timeout)(void *parameter), void   *parameter,</a:t>
            </a:r>
            <a:endParaRPr lang="zh-CN" altLang="en-US"/>
          </a:p>
          <a:p>
            <a:r>
              <a:rPr lang="zh-CN" altLang="en-US"/>
              <a:t>                                                                                                                                          rt_tick_t   time,rt_uint8_t  flag)</a:t>
            </a:r>
            <a:endParaRPr lang="zh-CN" altLang="en-US"/>
          </a:p>
          <a:p>
            <a:r>
              <a:rPr lang="zh-CN" altLang="en-US"/>
              <a:t>rt_err_t rt_timer_detach(rt_timer_t timer)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31950" y="3456305"/>
            <a:ext cx="10619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rt_timer_t rt_timer_create(const char *name,  void (*timeout)(void *</a:t>
            </a:r>
            <a:r>
              <a:rPr lang="zh-CN" altLang="en-US">
                <a:sym typeface="+mn-ea"/>
              </a:rPr>
              <a:t>parameter</a:t>
            </a:r>
            <a:r>
              <a:rPr lang="zh-CN" altLang="en-US"/>
              <a:t>),  void *</a:t>
            </a:r>
            <a:r>
              <a:rPr lang="zh-CN" altLang="en-US">
                <a:sym typeface="+mn-ea"/>
              </a:rPr>
              <a:t>parameter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                                                                                                                                       rt_tick_t   time,  rt_uint8_t  flag)</a:t>
            </a:r>
            <a:endParaRPr lang="zh-CN" altLang="en-US"/>
          </a:p>
          <a:p>
            <a:r>
              <a:rPr lang="zh-CN" altLang="en-US"/>
              <a:t>rt_err_t rt_timer_delete(rt_timer_t timer)</a:t>
            </a:r>
            <a:endParaRPr lang="zh-CN" altLang="en-US"/>
          </a:p>
        </p:txBody>
      </p:sp>
      <p:grpSp>
        <p:nvGrpSpPr>
          <p:cNvPr id="8" name="îSľîḋé"/>
          <p:cNvGrpSpPr/>
          <p:nvPr/>
        </p:nvGrpSpPr>
        <p:grpSpPr>
          <a:xfrm>
            <a:off x="838069" y="4403065"/>
            <a:ext cx="764860" cy="765060"/>
            <a:chOff x="6356794" y="4841144"/>
            <a:chExt cx="764860" cy="765060"/>
          </a:xfrm>
        </p:grpSpPr>
        <p:sp>
          <p:nvSpPr>
            <p:cNvPr id="4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50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57" name="îşlîḍè"/>
          <p:cNvSpPr/>
          <p:nvPr/>
        </p:nvSpPr>
        <p:spPr>
          <a:xfrm>
            <a:off x="1632774" y="460804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启动定时器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8155" y="4963160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rt_timer_start(rt_timer_t timer)</a:t>
            </a:r>
            <a:endParaRPr lang="zh-CN" altLang="en-US"/>
          </a:p>
          <a:p>
            <a:endParaRPr lang="zh-CN" altLang="en-US"/>
          </a:p>
        </p:txBody>
      </p:sp>
      <p:grpSp>
        <p:nvGrpSpPr>
          <p:cNvPr id="7" name="îSľîḋé"/>
          <p:cNvGrpSpPr/>
          <p:nvPr/>
        </p:nvGrpSpPr>
        <p:grpSpPr>
          <a:xfrm>
            <a:off x="866644" y="5546700"/>
            <a:ext cx="764860" cy="765060"/>
            <a:chOff x="6356794" y="4841144"/>
            <a:chExt cx="764860" cy="765060"/>
          </a:xfrm>
        </p:grpSpPr>
        <p:sp>
          <p:nvSpPr>
            <p:cNvPr id="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12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3" name="îşlîḍè"/>
          <p:cNvSpPr/>
          <p:nvPr/>
        </p:nvSpPr>
        <p:spPr>
          <a:xfrm>
            <a:off x="1632774" y="5751681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停止定时器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48155" y="6123940"/>
            <a:ext cx="926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rt_timer_stop(rt_timer_t timer)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244330" y="2626360"/>
            <a:ext cx="33604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>
                <a:solidFill>
                  <a:schemeClr val="accent2"/>
                </a:solidFill>
                <a:sym typeface="+mn-ea"/>
              </a:rPr>
              <a:t>RT_TIMER_FLAG_ONE_SHOT 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zh-CN" altLang="en-US" sz="1200">
                <a:solidFill>
                  <a:schemeClr val="accent2"/>
                </a:solidFill>
                <a:sym typeface="+mn-ea"/>
              </a:rPr>
              <a:t>RT_TIMER_FLAG_PERIODIC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zh-CN" altLang="en-US" sz="1200">
                <a:solidFill>
                  <a:schemeClr val="accent2"/>
                </a:solidFill>
                <a:sym typeface="+mn-ea"/>
              </a:rPr>
              <a:t>RT_TIMER_FLAG_HARD_TIMER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zh-CN" altLang="en-US" sz="1200">
                <a:solidFill>
                  <a:schemeClr val="accent2"/>
                </a:solidFill>
                <a:sym typeface="+mn-ea"/>
              </a:rPr>
              <a:t> RT_TIMER_FLAG_SOFT_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TIMER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 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423795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软件定时器使用示例</a:t>
            </a:r>
            <a:endParaRPr lang="zh-C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演示</Application>
  <PresentationFormat>宽屏</PresentationFormat>
  <Paragraphs>76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Wingdings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软件定时器介绍</vt:lpstr>
      <vt:lpstr>定时器模式</vt:lpstr>
      <vt:lpstr>软件定时器控制块</vt:lpstr>
      <vt:lpstr>软件定时器的操作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224</cp:revision>
  <dcterms:created xsi:type="dcterms:W3CDTF">2014-06-30T01:36:00Z</dcterms:created>
  <dcterms:modified xsi:type="dcterms:W3CDTF">2018-12-16T09:13:19Z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