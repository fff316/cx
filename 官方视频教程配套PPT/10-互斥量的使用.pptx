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8" r:id="rId3"/>
    <p:sldId id="400" r:id="rId4"/>
    <p:sldId id="408" r:id="rId5"/>
    <p:sldId id="410" r:id="rId6"/>
    <p:sldId id="405" r:id="rId7"/>
    <p:sldId id="407" r:id="rId8"/>
    <p:sldId id="40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5348" y="5017646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第十讲：</a:t>
            </a:r>
            <a:r>
              <a:rPr lang="en-US" altLang="zh-CN" sz="2800" dirty="0"/>
              <a:t> </a:t>
            </a:r>
            <a:r>
              <a:rPr lang="zh-CN" altLang="en-US" sz="2800" dirty="0"/>
              <a:t>互斥量的使用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例说互斥量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714375" y="1503045"/>
            <a:ext cx="8282305" cy="3999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en-US" altLang="zh-CN" sz="2000"/>
              <a:t>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        </a:t>
            </a:r>
            <a:r>
              <a:rPr lang="zh-CN" altLang="en-US"/>
              <a:t>我们来看一个生活中的例子：现在大多银行</a:t>
            </a:r>
            <a:r>
              <a:rPr lang="en-US" altLang="zh-CN"/>
              <a:t>ATM</a:t>
            </a:r>
            <a:r>
              <a:rPr lang="zh-CN" altLang="en-US"/>
              <a:t>机都有一个特制的铁门。</a:t>
            </a:r>
            <a:endParaRPr lang="zh-CN" altLang="en-US"/>
          </a:p>
          <a:p>
            <a:r>
              <a:rPr lang="zh-CN" altLang="en-US"/>
              <a:t>        需要使用</a:t>
            </a:r>
            <a:r>
              <a:rPr lang="en-US" altLang="zh-CN"/>
              <a:t>ATM</a:t>
            </a:r>
            <a:r>
              <a:rPr lang="zh-CN" altLang="en-US"/>
              <a:t>的用户都需要在门前排队，进入铁门使用</a:t>
            </a:r>
            <a:r>
              <a:rPr lang="en-US" altLang="zh-CN"/>
              <a:t>ATM</a:t>
            </a:r>
            <a:r>
              <a:rPr lang="zh-CN" altLang="en-US"/>
              <a:t>机的用户进入后会在里面将铁门锁住，以保障自身安全，</a:t>
            </a:r>
            <a:r>
              <a:rPr lang="zh-CN" altLang="en-US">
                <a:sym typeface="+mn-ea"/>
              </a:rPr>
              <a:t>这个时候，在门外排队的用户无法使用</a:t>
            </a:r>
            <a:r>
              <a:rPr lang="en-US" altLang="zh-CN">
                <a:sym typeface="+mn-ea"/>
              </a:rPr>
              <a:t>ATM</a:t>
            </a:r>
            <a:r>
              <a:rPr lang="zh-CN" altLang="en-US">
                <a:sym typeface="+mn-ea"/>
              </a:rPr>
              <a:t>机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        当之前锁住</a:t>
            </a:r>
            <a:r>
              <a:rPr lang="en-US" altLang="zh-CN"/>
              <a:t>ATM</a:t>
            </a:r>
            <a:r>
              <a:rPr lang="zh-CN" altLang="en-US"/>
              <a:t>铁门的用户办理完业务，打开门以后，其他在外排队的用户才可以进入铁门使用</a:t>
            </a:r>
            <a:r>
              <a:rPr lang="en-US" altLang="zh-CN"/>
              <a:t>ATM</a:t>
            </a:r>
            <a:r>
              <a:rPr lang="zh-CN" altLang="en-US"/>
              <a:t>，这位进入铁门的用户也会和前一个用户一样，将门锁住，保障自身的安全。</a:t>
            </a:r>
            <a:endParaRPr lang="zh-CN" altLang="en-US"/>
          </a:p>
          <a:p>
            <a:r>
              <a:rPr lang="zh-CN" altLang="en-US"/>
              <a:t>         </a:t>
            </a:r>
            <a:endParaRPr lang="zh-CN" altLang="en-US"/>
          </a:p>
          <a:p>
            <a:r>
              <a:rPr lang="zh-CN" altLang="en-US"/>
              <a:t>        例子中</a:t>
            </a:r>
            <a:r>
              <a:rPr lang="en-US" altLang="zh-CN"/>
              <a:t>ATM</a:t>
            </a:r>
            <a:r>
              <a:rPr lang="zh-CN" altLang="en-US"/>
              <a:t>机就相当于系统中的</a:t>
            </a:r>
            <a:r>
              <a:rPr lang="zh-CN" altLang="en-US">
                <a:solidFill>
                  <a:schemeClr val="tx2"/>
                </a:solidFill>
              </a:rPr>
              <a:t>共享资源</a:t>
            </a:r>
            <a:r>
              <a:rPr lang="zh-CN" altLang="en-US"/>
              <a:t>，需要使用</a:t>
            </a:r>
            <a:r>
              <a:rPr lang="en-US" altLang="zh-CN"/>
              <a:t>ATM</a:t>
            </a:r>
            <a:r>
              <a:rPr lang="zh-CN" altLang="en-US"/>
              <a:t>的用户相当于系统中的</a:t>
            </a:r>
            <a:r>
              <a:rPr lang="zh-CN" altLang="en-US">
                <a:solidFill>
                  <a:schemeClr val="tx2"/>
                </a:solidFill>
              </a:rPr>
              <a:t>线程，</a:t>
            </a:r>
            <a:r>
              <a:rPr lang="zh-CN" altLang="en-US">
                <a:solidFill>
                  <a:schemeClr val="tx1"/>
                </a:solidFill>
              </a:rPr>
              <a:t>而铁门，就起到了</a:t>
            </a:r>
            <a:r>
              <a:rPr lang="zh-CN" altLang="en-US">
                <a:solidFill>
                  <a:schemeClr val="tx2"/>
                </a:solidFill>
              </a:rPr>
              <a:t>互斥量</a:t>
            </a:r>
            <a:r>
              <a:rPr lang="zh-CN" altLang="en-US">
                <a:solidFill>
                  <a:schemeClr val="tx1"/>
                </a:solidFill>
              </a:rPr>
              <a:t>的作用。</a:t>
            </a:r>
            <a:endParaRPr lang="en-US" altLang="zh-CN" sz="2000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互斥量工作机制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483870" y="1350010"/>
            <a:ext cx="8512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r>
              <a:rPr lang="zh-CN">
                <a:sym typeface="+mn-ea"/>
              </a:rPr>
              <a:t>互斥量</a:t>
            </a:r>
            <a:r>
              <a:rPr lang="zh-CN" altLang="en-US">
                <a:sym typeface="+mn-ea"/>
              </a:rPr>
              <a:t>（互斥锁）</a:t>
            </a:r>
            <a:r>
              <a:rPr lang="zh-CN">
                <a:sym typeface="+mn-ea"/>
              </a:rPr>
              <a:t>是用于线程间</a:t>
            </a:r>
            <a:r>
              <a:rPr lang="zh-CN" b="1">
                <a:sym typeface="+mn-ea"/>
              </a:rPr>
              <a:t>互斥访问</a:t>
            </a:r>
            <a:r>
              <a:rPr lang="zh-CN">
                <a:sym typeface="+mn-ea"/>
              </a:rPr>
              <a:t>的</a:t>
            </a:r>
            <a:r>
              <a:rPr lang="en-US" altLang="zh-CN">
                <a:sym typeface="+mn-ea"/>
              </a:rPr>
              <a:t>IPC</a:t>
            </a:r>
            <a:r>
              <a:rPr lang="zh-CN">
                <a:sym typeface="+mn-ea"/>
              </a:rPr>
              <a:t>对象，它</a:t>
            </a:r>
            <a:r>
              <a:rPr lang="en-US" altLang="zh-CN">
                <a:sym typeface="+mn-ea"/>
              </a:rPr>
              <a:t>是一种特殊的二值性信号量</a:t>
            </a:r>
            <a:r>
              <a:rPr lang="zh-CN">
                <a:sym typeface="+mn-ea"/>
              </a:rPr>
              <a:t>。当某个线程访问系统中的共享资源时，通过引入互斥量机制，可以保证其他线程无法取得对此共享资源的访问权</a:t>
            </a:r>
            <a:r>
              <a:rPr lang="zh-CN" altLang="en-US">
                <a:sym typeface="+mn-ea"/>
              </a:rPr>
              <a:t>。</a:t>
            </a:r>
            <a:endParaRPr lang="zh-CN"/>
          </a:p>
          <a:p/>
        </p:txBody>
      </p:sp>
      <p:sp>
        <p:nvSpPr>
          <p:cNvPr id="4" name="文本框 3"/>
          <p:cNvSpPr txBox="1"/>
          <p:nvPr/>
        </p:nvSpPr>
        <p:spPr>
          <a:xfrm>
            <a:off x="483870" y="5140325"/>
            <a:ext cx="85096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</a:t>
            </a:r>
            <a:r>
              <a:t>互斥量</a:t>
            </a:r>
            <a:r>
              <a:rPr lang="zh-CN"/>
              <a:t>只有</a:t>
            </a:r>
            <a:r>
              <a:t>两种</a:t>
            </a:r>
            <a:r>
              <a:rPr lang="zh-CN"/>
              <a:t>状态：</a:t>
            </a:r>
            <a:r>
              <a:rPr lang="en-US" altLang="zh-CN">
                <a:sym typeface="+mn-ea"/>
              </a:rPr>
              <a:t>LOCKED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UNLOCKED</a:t>
            </a:r>
            <a:r>
              <a:rPr lang="zh-CN" altLang="en-US">
                <a:sym typeface="+mn-ea"/>
              </a:rPr>
              <a:t>，分别代表加锁和开锁的两种情况</a:t>
            </a:r>
            <a:endParaRPr lang="en-US" altLang="zh-CN"/>
          </a:p>
          <a:p>
            <a:r>
              <a:t>。当有线程持有它时，互斥量处于闭锁状态，由这个线程获得它的所有权。相反，当这个线程释放它时，将对互斥量进行开锁，失去</a:t>
            </a:r>
            <a:r>
              <a:rPr lang="zh-CN"/>
              <a:t>对</a:t>
            </a:r>
            <a:r>
              <a:t>它的所有权。当一个线程持有互斥量时，其他线程将不能够对它进行开锁或持有它</a:t>
            </a:r>
            <a:r>
              <a:rPr lang="zh-CN"/>
              <a:t>。</a:t>
            </a:r>
            <a:r>
              <a:t>持有该互斥量的线程也能够再次获得这个</a:t>
            </a:r>
            <a:r>
              <a:rPr lang="en-US"/>
              <a:t>“</a:t>
            </a:r>
            <a:r>
              <a:t>锁</a:t>
            </a:r>
            <a:r>
              <a:rPr lang="en-US"/>
              <a:t>“</a:t>
            </a:r>
            <a:r>
              <a:rPr lang="zh-CN"/>
              <a:t>（递归持有）</a:t>
            </a:r>
            <a:r>
              <a:t>而不被挂起</a:t>
            </a:r>
          </a:p>
        </p:txBody>
      </p:sp>
      <p:pic>
        <p:nvPicPr>
          <p:cNvPr id="6" name="图片 5" descr="4L}IM)G_4EDBCJG7CPRNHA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735" y="2737485"/>
            <a:ext cx="5151120" cy="2216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互斥量控制块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</a:t>
            </a:r>
            <a:r>
              <a:rPr lang="zh-CN"/>
              <a:t>互斥</a:t>
            </a:r>
            <a:r>
              <a:t>量控制块是操作系统用于管理</a:t>
            </a:r>
            <a:r>
              <a:rPr lang="zh-CN"/>
              <a:t>互斥</a:t>
            </a:r>
            <a:r>
              <a:t>量的一个数据结构</a:t>
            </a:r>
            <a:r>
              <a:rPr lang="zh-CN"/>
              <a:t>。</a:t>
            </a:r>
            <a:endParaRPr lang="zh-CN"/>
          </a:p>
          <a:p/>
          <a:p>
            <a:r>
              <a:t>         </a:t>
            </a:r>
            <a:r>
              <a:rPr>
                <a:solidFill>
                  <a:schemeClr val="tx2"/>
                </a:solidFill>
              </a:rPr>
              <a:t>struct rt_mutex</a:t>
            </a:r>
            <a:endParaRPr>
              <a:solidFill>
                <a:schemeClr val="tx2"/>
              </a:solidFill>
            </a:endParaRPr>
          </a:p>
          <a:p>
            <a:r>
              <a:rPr>
                <a:solidFill>
                  <a:schemeClr val="tx2"/>
                </a:solidFill>
              </a:rPr>
              <a:t>        </a:t>
            </a:r>
            <a:r>
              <a:rPr>
                <a:solidFill>
                  <a:schemeClr val="tx1"/>
                </a:solidFill>
              </a:rPr>
              <a:t>{</a:t>
            </a:r>
            <a:endParaRPr>
              <a:solidFill>
                <a:schemeClr val="tx2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           struct rt_ipc_object parent;                /**&lt; inherit from ipc_object */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           rt_uint16_t          value;                         /**&lt; value of mutex */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           rt_uint8_t           original_priority;       /**&lt; priority of last thread hold the mutex */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           rt_uint8_t           hold;                           /**&lt; numbers of thread hold the mutex */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           struct </a:t>
            </a:r>
            <a:r>
              <a:rPr b="1">
                <a:solidFill>
                  <a:schemeClr val="tx1"/>
                </a:solidFill>
              </a:rPr>
              <a:t>rt_thread    *owner</a:t>
            </a:r>
            <a:r>
              <a:rPr>
                <a:solidFill>
                  <a:schemeClr val="tx1"/>
                </a:solidFill>
              </a:rPr>
              <a:t>;                  /**&lt; current owner of mutex */</a:t>
            </a:r>
            <a:endParaRPr>
              <a:solidFill>
                <a:schemeClr val="tx2"/>
              </a:solidFill>
            </a:endParaRPr>
          </a:p>
          <a:p>
            <a:r>
              <a:rPr>
                <a:solidFill>
                  <a:schemeClr val="tx2"/>
                </a:solidFill>
              </a:rPr>
              <a:t>        </a:t>
            </a:r>
            <a:r>
              <a:rPr>
                <a:solidFill>
                  <a:schemeClr val="tx1"/>
                </a:solidFill>
              </a:rPr>
              <a:t>}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2"/>
              </a:solidFill>
            </a:endParaRPr>
          </a:p>
          <a:p>
            <a:r>
              <a:t>         </a:t>
            </a:r>
          </a:p>
          <a:p>
            <a:r>
              <a:t>           </a:t>
            </a:r>
            <a:r>
              <a:rPr lang="zh-CN"/>
              <a:t>定义静态互斥量：</a:t>
            </a:r>
            <a:r>
              <a:rPr>
                <a:solidFill>
                  <a:schemeClr val="tx2"/>
                </a:solidFill>
                <a:sym typeface="+mn-ea"/>
              </a:rPr>
              <a:t>struct rt_mutex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static_mutex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定义动态互斥量：</a:t>
            </a:r>
            <a:r>
              <a:rPr lang="zh-CN">
                <a:solidFill>
                  <a:schemeClr val="tx2"/>
                </a:solidFill>
                <a:sym typeface="+mn-ea"/>
              </a:rPr>
              <a:t>rt_mutex</a:t>
            </a:r>
            <a:r>
              <a:rPr lang="en-US" altLang="zh-CN">
                <a:solidFill>
                  <a:schemeClr val="tx2"/>
                </a:solidFill>
                <a:sym typeface="+mn-ea"/>
              </a:rPr>
              <a:t>_t</a:t>
            </a:r>
            <a:r>
              <a:rPr>
                <a:solidFill>
                  <a:schemeClr val="tx2"/>
                </a:solidFill>
                <a:sym typeface="+mn-ea"/>
              </a:rPr>
              <a:t>  </a:t>
            </a:r>
            <a:r>
              <a:rPr>
                <a:solidFill>
                  <a:schemeClr val="tx1"/>
                </a:solidFill>
                <a:sym typeface="+mn-ea"/>
              </a:rPr>
              <a:t>dynamic_</a:t>
            </a:r>
            <a:r>
              <a:rPr lang="en-US">
                <a:solidFill>
                  <a:schemeClr val="tx1"/>
                </a:solidFill>
                <a:sym typeface="+mn-ea"/>
              </a:rPr>
              <a:t>mutex</a:t>
            </a:r>
            <a:endParaRPr lang="en-US">
              <a:solidFill>
                <a:schemeClr val="tx1"/>
              </a:solidFill>
              <a:sym typeface="+mn-ea"/>
            </a:endParaRPr>
          </a:p>
          <a:p>
            <a:endParaRPr lang="en-US">
              <a:solidFill>
                <a:schemeClr val="tx1"/>
              </a:solidFill>
              <a:sym typeface="+mn-ea"/>
            </a:endParaRPr>
          </a:p>
          <a:p>
            <a:r>
              <a:rPr lang="zh-CN">
                <a:sym typeface="+mn-ea"/>
              </a:rPr>
              <a:t>          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互斥量的操作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32585" y="308419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288728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48155" y="2265680"/>
            <a:ext cx="10030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rt_mutex_init</a:t>
            </a:r>
            <a:r>
              <a:rPr lang="zh-CN" altLang="en-US"/>
              <a:t>(rt_mutex_t mutex, const char *name, rt_uint8_t flag)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RT_IPC_FLAG_FIFO   RT_IPC_FLAG_PRIO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rt_mutex_detach</a:t>
            </a:r>
            <a:r>
              <a:rPr lang="zh-CN" altLang="en-US"/>
              <a:t>(rt_mutex_t mutex)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8155" y="3456305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rt_mutex_t </a:t>
            </a:r>
            <a:r>
              <a:rPr lang="zh-CN" altLang="en-US">
                <a:solidFill>
                  <a:schemeClr val="tx2"/>
                </a:solidFill>
              </a:rPr>
              <a:t>rt_mutex_create</a:t>
            </a:r>
            <a:r>
              <a:rPr lang="zh-CN" altLang="en-US"/>
              <a:t>(const char *name, rt_uint8_t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rt_mutex_delete</a:t>
            </a:r>
            <a:r>
              <a:rPr lang="zh-CN" altLang="en-US"/>
              <a:t>(rt_mutex_t mutex)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28495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48993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获取互斥量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845050"/>
            <a:ext cx="92652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</a:t>
            </a:r>
            <a:r>
              <a:rPr lang="zh-CN" altLang="en-US">
                <a:solidFill>
                  <a:schemeClr val="tx2"/>
                </a:solidFill>
              </a:rPr>
              <a:t> rt_mutex_take</a:t>
            </a:r>
            <a:r>
              <a:rPr lang="zh-CN" altLang="en-US"/>
              <a:t>(rt_mutex_t mutex, rt_int32_t time)</a:t>
            </a:r>
            <a:r>
              <a:rPr lang="en-US" altLang="zh-CN">
                <a:sym typeface="+mn-ea"/>
              </a:rPr>
              <a:t>//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RT_WAITING_FOREVER</a:t>
            </a:r>
            <a:r>
              <a:rPr lang="en-US" altLang="zh-CN" sz="1200">
                <a:solidFill>
                  <a:schemeClr val="accent2"/>
                </a:solidFill>
                <a:sym typeface="+mn-ea"/>
              </a:rPr>
              <a:t>=-1</a:t>
            </a:r>
            <a:endParaRPr lang="zh-CN" altLang="en-US" sz="1200"/>
          </a:p>
          <a:p>
            <a:endParaRPr lang="zh-CN" altLang="en-US" sz="1200"/>
          </a:p>
        </p:txBody>
      </p:sp>
      <p:grpSp>
        <p:nvGrpSpPr>
          <p:cNvPr id="7" name="îSľîḋé"/>
          <p:cNvGrpSpPr/>
          <p:nvPr/>
        </p:nvGrpSpPr>
        <p:grpSpPr>
          <a:xfrm>
            <a:off x="838704" y="5664175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748344" y="5852011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释放互斥量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241415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rt_mutex_release</a:t>
            </a:r>
            <a:r>
              <a:rPr lang="zh-CN" altLang="en-US"/>
              <a:t>(rt_mutex_t mutex)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646680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互斥量使用示例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</a:t>
            </a:r>
            <a:r>
              <a:rPr lang="en-US" altLang="zh-CN"/>
              <a:t>VS</a:t>
            </a:r>
            <a:r>
              <a:rPr lang="zh-CN" altLang="en-US"/>
              <a:t>互斥量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43610" y="2360295"/>
            <a:ext cx="103054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 </a:t>
            </a:r>
            <a:endParaRPr lang="zh-CN" altLang="en-US" sz="2000"/>
          </a:p>
          <a:p>
            <a:r>
              <a:rPr lang="en-US" altLang="zh-CN" sz="2000"/>
              <a:t>1</a:t>
            </a:r>
            <a:r>
              <a:rPr lang="zh-CN" altLang="en-US"/>
              <a:t>、</a:t>
            </a:r>
            <a:r>
              <a:rPr lang="zh-CN" altLang="en-US" b="1">
                <a:sym typeface="+mn-ea"/>
              </a:rPr>
              <a:t>信号量</a:t>
            </a:r>
            <a:r>
              <a:rPr lang="zh-CN" altLang="en-US">
                <a:sym typeface="+mn-ea"/>
              </a:rPr>
              <a:t>可以由任何线程（以及中断）释放，它用于同步的时候就像交通灯，线程只有在获得许可的时候才可以运行，强调的是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运行步骤</a:t>
            </a:r>
            <a:r>
              <a:rPr lang="zh-CN" altLang="en-US">
                <a:sym typeface="+mn-ea"/>
              </a:rPr>
              <a:t>；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</a:t>
            </a:r>
            <a:r>
              <a:rPr lang="zh-CN" altLang="en-US" b="1"/>
              <a:t>互斥量</a:t>
            </a:r>
            <a:r>
              <a:rPr lang="zh-CN" altLang="en-US"/>
              <a:t>只能由持有它的线程释放，即只有“锁上”它的那个线程才有“钥匙”打开它。它用于互斥的时候就像一把钥匙，只有获得钥匙的线程才可以运行，强调的是</a:t>
            </a:r>
            <a:r>
              <a:rPr lang="zh-CN" altLang="en-US" b="1"/>
              <a:t>许可和权限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、使用信号量可能导致线程优先级翻转，而互斥量可通过优先级继承的方法解决优先级翻转问题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WPS 演示</Application>
  <PresentationFormat>宽屏</PresentationFormat>
  <Paragraphs>76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例说互斥量</vt:lpstr>
      <vt:lpstr>互斥量工作机制</vt:lpstr>
      <vt:lpstr>互斥量控制块</vt:lpstr>
      <vt:lpstr>互斥量的操作</vt:lpstr>
      <vt:lpstr>PowerPoint 演示文稿</vt:lpstr>
      <vt:lpstr>信号量VS互斥量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217</cp:revision>
  <dcterms:created xsi:type="dcterms:W3CDTF">2014-06-30T01:36:00Z</dcterms:created>
  <dcterms:modified xsi:type="dcterms:W3CDTF">2018-12-02T14:13:20Z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