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8" r:id="rId3"/>
    <p:sldId id="403" r:id="rId4"/>
    <p:sldId id="399" r:id="rId5"/>
    <p:sldId id="397" r:id="rId6"/>
    <p:sldId id="398"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p:cViewPr>
        <p:scale>
          <a:sx n="100" d="100"/>
          <a:sy n="100" d="100"/>
        </p:scale>
        <p:origin x="324" y="408"/>
      </p:cViewPr>
      <p:guideLst>
        <p:guide orient="horz" pos="2144"/>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6F4B9-E833-452C-BAB3-A32CAEA9F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8CFAC-F816-40AD-A33C-FCF3FC1EA0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34" name="图片 33"/>
          <p:cNvPicPr>
            <a:picLocks noChangeAspect="1"/>
          </p:cNvPicPr>
          <p:nvPr userDrawn="1"/>
        </p:nvPicPr>
        <p:blipFill>
          <a:blip r:embed="rId2"/>
          <a:stretch>
            <a:fillRect/>
          </a:stretch>
        </p:blipFill>
        <p:spPr>
          <a:xfrm>
            <a:off x="1044330" y="1558459"/>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par>
                          <p:cTn id="65" fill="hold">
                            <p:stCondLst>
                              <p:cond delay="900"/>
                            </p:stCondLst>
                            <p:childTnLst>
                              <p:par>
                                <p:cTn id="66" presetID="10" presetClass="entr" presetSubtype="0"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8"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9" name="图片 8"/>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9"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10" name="图片 9"/>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a:t>Click to edit Master title style</a:t>
            </a:r>
            <a:endParaRPr lang="zh-CN" altLang="en-US"/>
          </a:p>
        </p:txBody>
      </p:sp>
      <p:cxnSp>
        <p:nvCxnSpPr>
          <p:cNvPr id="7"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8" name="图片 7"/>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pic>
        <p:nvPicPr>
          <p:cNvPr id="20" name="图片 19"/>
          <p:cNvPicPr>
            <a:picLocks noChangeAspect="1"/>
          </p:cNvPicPr>
          <p:nvPr userDrawn="1"/>
        </p:nvPicPr>
        <p:blipFill>
          <a:blip r:embed="rId2"/>
          <a:stretch>
            <a:fillRect/>
          </a:stretch>
        </p:blipFill>
        <p:spPr>
          <a:xfrm>
            <a:off x="1626129" y="1559095"/>
            <a:ext cx="1098927" cy="3468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par>
                          <p:cTn id="61" fill="hold">
                            <p:stCondLst>
                              <p:cond delay="1000"/>
                            </p:stCondLst>
                            <p:childTnLst>
                              <p:par>
                                <p:cTn id="62" presetID="10" presetClass="entr" presetSubtype="0" fill="hold" grpId="0" nodeType="after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par>
                                <p:cTn id="54" presetID="10" presetClass="entr" presetSubtype="0"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pic>
        <p:nvPicPr>
          <p:cNvPr id="51" name="图片 50"/>
          <p:cNvPicPr>
            <a:picLocks noChangeAspect="1"/>
          </p:cNvPicPr>
          <p:nvPr userDrawn="1"/>
        </p:nvPicPr>
        <p:blipFill>
          <a:blip r:embed="rId2"/>
          <a:stretch>
            <a:fillRect/>
          </a:stretch>
        </p:blipFill>
        <p:spPr>
          <a:xfrm>
            <a:off x="8948755" y="1776927"/>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par>
                          <p:cTn id="95" fill="hold">
                            <p:stCondLst>
                              <p:cond delay="400"/>
                            </p:stCondLst>
                            <p:childTnLst>
                              <p:par>
                                <p:cTn id="96" presetID="10" presetClass="entr" presetSubtype="0" fill="hold" nodeType="after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3752"/>
            <a:ext cx="10972800" cy="1143000"/>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spcBef>
          <a:spcPct val="0"/>
        </a:spcBef>
        <a:buNone/>
        <a:defRPr sz="40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5.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1885" y="2555875"/>
            <a:ext cx="8289925" cy="1001395"/>
          </a:xfrm>
        </p:spPr>
        <p:txBody>
          <a:bodyPr/>
          <a:lstStyle/>
          <a:p>
            <a:r>
              <a:rPr lang="en-US" altLang="zh-CN" sz="4800" dirty="0"/>
              <a:t>RT-Thread</a:t>
            </a:r>
            <a:r>
              <a:rPr lang="zh-CN" altLang="en-US" sz="4800" dirty="0"/>
              <a:t>入门系列视频教程</a:t>
            </a:r>
            <a:endParaRPr lang="zh-CN" altLang="en-US" sz="4800" dirty="0"/>
          </a:p>
        </p:txBody>
      </p:sp>
      <p:sp>
        <p:nvSpPr>
          <p:cNvPr id="3" name="Subtitle 2"/>
          <p:cNvSpPr>
            <a:spLocks noGrp="1"/>
          </p:cNvSpPr>
          <p:nvPr>
            <p:ph type="subTitle" idx="1"/>
          </p:nvPr>
        </p:nvSpPr>
        <p:spPr>
          <a:xfrm>
            <a:off x="2835113" y="4904616"/>
            <a:ext cx="7382672" cy="1032599"/>
          </a:xfrm>
        </p:spPr>
        <p:txBody>
          <a:bodyPr/>
          <a:lstStyle/>
          <a:p>
            <a:r>
              <a:rPr lang="en-US" altLang="zh-CN" dirty="0"/>
              <a:t>          </a:t>
            </a:r>
            <a:r>
              <a:rPr lang="zh-CN" altLang="en-US" sz="2800" dirty="0"/>
              <a:t>第五讲：</a:t>
            </a:r>
            <a:r>
              <a:rPr lang="en-US" altLang="zh-CN" sz="2800" dirty="0"/>
              <a:t> </a:t>
            </a:r>
            <a:r>
              <a:rPr lang="zh-CN" altLang="en-US" sz="2800" dirty="0"/>
              <a:t>线程的时间片轮询调度</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线程优先级</a:t>
            </a:r>
            <a:endParaRPr lang="zh-CN" altLang="en-US"/>
          </a:p>
        </p:txBody>
      </p:sp>
      <p:sp>
        <p:nvSpPr>
          <p:cNvPr id="4" name="ïṥḻiḋè"/>
          <p:cNvSpPr txBox="1"/>
          <p:nvPr/>
        </p:nvSpPr>
        <p:spPr>
          <a:xfrm>
            <a:off x="1605915" y="1514475"/>
            <a:ext cx="6153785" cy="387350"/>
          </a:xfrm>
          <a:prstGeom prst="rect">
            <a:avLst/>
          </a:prstGeom>
        </p:spPr>
        <p:txBody>
          <a:bodyPr wrap="square" lIns="144000" tIns="0" rIns="0" bIns="0" anchor="t" anchorCtr="0">
            <a:noAutofit/>
          </a:bodyPr>
          <a:p>
            <a:pPr algn="l">
              <a:lnSpc>
                <a:spcPct val="120000"/>
              </a:lnSpc>
            </a:pPr>
            <a:endParaRPr lang="zh-CN" altLang="en-US" sz="2000" b="1" dirty="0">
              <a:solidFill>
                <a:srgbClr val="C00000"/>
              </a:solidFill>
            </a:endParaRPr>
          </a:p>
          <a:p>
            <a:pPr algn="l">
              <a:lnSpc>
                <a:spcPct val="120000"/>
              </a:lnSpc>
            </a:pPr>
            <a:endParaRPr lang="zh-CN" altLang="en-US" sz="1200" dirty="0">
              <a:solidFill>
                <a:schemeClr val="accent1">
                  <a:lumMod val="75000"/>
                </a:schemeClr>
              </a:solidFill>
              <a:sym typeface="+mn-ea"/>
            </a:endParaRPr>
          </a:p>
          <a:p>
            <a:pPr marL="171450" indent="-171450" algn="l">
              <a:lnSpc>
                <a:spcPct val="120000"/>
              </a:lnSpc>
              <a:buFont typeface="Wingdings" panose="05000000000000000000" charset="0"/>
              <a:buChar char=""/>
            </a:pPr>
            <a:endParaRPr lang="zh-CN" altLang="en-US" sz="1200" dirty="0">
              <a:solidFill>
                <a:schemeClr val="accent1">
                  <a:lumMod val="75000"/>
                </a:schemeClr>
              </a:solidFill>
              <a:sym typeface="+mn-ea"/>
            </a:endParaRPr>
          </a:p>
        </p:txBody>
      </p:sp>
      <p:sp>
        <p:nvSpPr>
          <p:cNvPr id="5" name="文本框 4"/>
          <p:cNvSpPr txBox="1"/>
          <p:nvPr/>
        </p:nvSpPr>
        <p:spPr>
          <a:xfrm>
            <a:off x="947420" y="2875915"/>
            <a:ext cx="9979025" cy="2030095"/>
          </a:xfrm>
          <a:prstGeom prst="rect">
            <a:avLst/>
          </a:prstGeom>
          <a:noFill/>
        </p:spPr>
        <p:txBody>
          <a:bodyPr wrap="square" rtlCol="0" anchor="t">
            <a:spAutoFit/>
          </a:bodyPr>
          <a:p>
            <a:r>
              <a:rPr lang="en-US" altLang="zh-CN"/>
              <a:t>        </a:t>
            </a:r>
            <a:r>
              <a:rPr lang="zh-CN" altLang="en-US"/>
              <a:t>RT-Thread 最大支持 256 个优先级（</a:t>
            </a:r>
            <a:r>
              <a:rPr lang="zh-CN" altLang="en-US">
                <a:sym typeface="+mn-ea"/>
              </a:rPr>
              <a:t>数值越小的优先级越高，0 为最高优先级</a:t>
            </a:r>
            <a:r>
              <a:rPr lang="en-US" altLang="zh-CN">
                <a:sym typeface="+mn-ea"/>
              </a:rPr>
              <a:t>, </a:t>
            </a:r>
            <a:r>
              <a:rPr lang="zh-CN" altLang="zh-CN">
                <a:sym typeface="+mn-ea"/>
              </a:rPr>
              <a:t>最低优先级预留给空闲线程）；</a:t>
            </a:r>
            <a:endParaRPr lang="zh-CN" altLang="zh-CN">
              <a:sym typeface="+mn-ea"/>
            </a:endParaRPr>
          </a:p>
          <a:p>
            <a:r>
              <a:rPr lang="zh-CN" altLang="en-US"/>
              <a:t>        用户可以通过</a:t>
            </a:r>
            <a:r>
              <a:rPr lang="en-US" altLang="zh-CN"/>
              <a:t>rt_config.h</a:t>
            </a:r>
            <a:r>
              <a:rPr lang="zh-CN" altLang="zh-CN"/>
              <a:t>中的RT_THREAD_PRIORITY_MAX宏来修改最大支持的优先级；</a:t>
            </a:r>
            <a:endParaRPr lang="zh-CN" altLang="zh-CN"/>
          </a:p>
          <a:p>
            <a:r>
              <a:rPr lang="zh-CN" altLang="zh-CN"/>
              <a:t>        针对</a:t>
            </a:r>
            <a:r>
              <a:rPr lang="en-US" altLang="zh-CN"/>
              <a:t>STM32 </a:t>
            </a:r>
            <a:r>
              <a:rPr lang="zh-CN" altLang="en-US"/>
              <a:t> 默认设置最大支持</a:t>
            </a:r>
            <a:r>
              <a:rPr lang="en-US" altLang="zh-CN"/>
              <a:t>32</a:t>
            </a:r>
            <a:r>
              <a:rPr lang="zh-CN" altLang="en-US"/>
              <a:t>个优先级；</a:t>
            </a:r>
            <a:endParaRPr lang="zh-CN" altLang="en-US"/>
          </a:p>
          <a:p>
            <a:endParaRPr lang="zh-CN" altLang="en-US"/>
          </a:p>
          <a:p>
            <a:endParaRPr lang="zh-CN" altLang="en-US"/>
          </a:p>
          <a:p>
            <a:r>
              <a:rPr lang="zh-CN" altLang="en-US"/>
              <a:t>        具体应用中，线程总数不受限制，能创建的线程总数只和具体硬件平台的内存有关</a:t>
            </a:r>
            <a:endParaRPr lang="zh-CN" altLang="en-US"/>
          </a:p>
        </p:txBody>
      </p:sp>
      <p:sp>
        <p:nvSpPr>
          <p:cNvPr id="3" name="文本框 2"/>
          <p:cNvSpPr txBox="1"/>
          <p:nvPr/>
        </p:nvSpPr>
        <p:spPr>
          <a:xfrm>
            <a:off x="1005840" y="1774825"/>
            <a:ext cx="10890885" cy="645160"/>
          </a:xfrm>
          <a:prstGeom prst="rect">
            <a:avLst/>
          </a:prstGeom>
          <a:noFill/>
        </p:spPr>
        <p:txBody>
          <a:bodyPr wrap="square" rtlCol="0" anchor="t">
            <a:spAutoFit/>
          </a:bodyPr>
          <a:p>
            <a:r>
              <a:rPr lang="en-US" altLang="zh-CN"/>
              <a:t>        </a:t>
            </a:r>
            <a:r>
              <a:rPr lang="zh-CN" altLang="en-US"/>
              <a:t>优先级和时间片是线程的两个重要参数，优先级描述了线程竞争处理器资源的能力。</a:t>
            </a:r>
            <a:endParaRPr lang="zh-CN" altLang="en-US"/>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线程时间片</a:t>
            </a:r>
            <a:endParaRPr lang="zh-CN" altLang="en-US"/>
          </a:p>
        </p:txBody>
      </p:sp>
      <p:sp>
        <p:nvSpPr>
          <p:cNvPr id="5" name="文本框 4"/>
          <p:cNvSpPr txBox="1"/>
          <p:nvPr/>
        </p:nvSpPr>
        <p:spPr>
          <a:xfrm>
            <a:off x="862965" y="1859280"/>
            <a:ext cx="10890885" cy="645160"/>
          </a:xfrm>
          <a:prstGeom prst="rect">
            <a:avLst/>
          </a:prstGeom>
          <a:noFill/>
        </p:spPr>
        <p:txBody>
          <a:bodyPr wrap="square" rtlCol="0" anchor="t">
            <a:spAutoFit/>
          </a:bodyPr>
          <a:p>
            <a:r>
              <a:rPr lang="en-US" altLang="zh-CN"/>
              <a:t>         </a:t>
            </a:r>
            <a:r>
              <a:rPr lang="zh-CN" altLang="en-US">
                <a:sym typeface="+mn-ea"/>
              </a:rPr>
              <a:t>时间片只有在相同优先级的就绪态线程中起作用，</a:t>
            </a:r>
            <a:r>
              <a:rPr lang="zh-CN" altLang="en-US"/>
              <a:t>系统对优先级相同的就绪态线程采用时间片轮转的调度方式进行调度时，时间片起到约束线程单次运行时长的作用，其单位是一个系统节拍（OS Tick）</a:t>
            </a:r>
            <a:endParaRPr lang="zh-CN" altLang="en-US"/>
          </a:p>
        </p:txBody>
      </p:sp>
      <p:sp>
        <p:nvSpPr>
          <p:cNvPr id="100" name="文本框 99"/>
          <p:cNvSpPr txBox="1"/>
          <p:nvPr/>
        </p:nvSpPr>
        <p:spPr>
          <a:xfrm>
            <a:off x="1005205" y="2792730"/>
            <a:ext cx="10577195" cy="922020"/>
          </a:xfrm>
          <a:prstGeom prst="rect">
            <a:avLst/>
          </a:prstGeom>
          <a:noFill/>
          <a:ln w="9525">
            <a:noFill/>
          </a:ln>
        </p:spPr>
        <p:txBody>
          <a:bodyPr wrap="square">
            <a:spAutoFit/>
          </a:bodyPr>
          <a:p>
            <a:pPr indent="127000"/>
            <a:r>
              <a:rPr lang="en-US" altLang="zh-CN" b="0"/>
              <a:t>   </a:t>
            </a:r>
            <a:r>
              <a:rPr lang="zh-CN" altLang="en-US" b="0"/>
              <a:t>假设有2个优先级相同的就绪态线程A与B，A线程的时间片设置为10，B线程的时间片设置为5，那么当系统中不存在比A优先级高的就绪态线程时，系统会在A、B线程间来回切换执行，并且每次对A线程执行10个节拍的时长，对B线程执行5个节拍的时长</a:t>
            </a:r>
            <a:endParaRPr lang="zh-CN" altLang="en-US" b="0"/>
          </a:p>
        </p:txBody>
      </p:sp>
      <p:graphicFrame>
        <p:nvGraphicFramePr>
          <p:cNvPr id="-2147482620" name="对象 9"/>
          <p:cNvGraphicFramePr/>
          <p:nvPr/>
        </p:nvGraphicFramePr>
        <p:xfrm>
          <a:off x="1714500" y="3944620"/>
          <a:ext cx="8242300" cy="2472690"/>
        </p:xfrm>
        <a:graphic>
          <a:graphicData uri="http://schemas.openxmlformats.org/presentationml/2006/ole">
            <mc:AlternateContent xmlns:mc="http://schemas.openxmlformats.org/markup-compatibility/2006">
              <mc:Choice xmlns:v="urn:schemas-microsoft-com:vml" Requires="v">
                <p:oleObj spid="_x0000_s3076" name="" r:id="rId1" imgW="4749800" imgH="2068195" progId="Visio.Drawing.15">
                  <p:embed/>
                </p:oleObj>
              </mc:Choice>
              <mc:Fallback>
                <p:oleObj name="" r:id="rId1" imgW="4749800" imgH="2068195" progId="Visio.Drawing.15">
                  <p:embed/>
                  <p:pic>
                    <p:nvPicPr>
                      <p:cNvPr id="0" name="图片 3075"/>
                      <p:cNvPicPr/>
                      <p:nvPr/>
                    </p:nvPicPr>
                    <p:blipFill>
                      <a:blip r:embed="rId2"/>
                      <a:srcRect t="20847" b="18445"/>
                      <a:stretch>
                        <a:fillRect/>
                      </a:stretch>
                    </p:blipFill>
                    <p:spPr>
                      <a:xfrm>
                        <a:off x="1714500" y="3944620"/>
                        <a:ext cx="8242300" cy="2472690"/>
                      </a:xfrm>
                      <a:prstGeom prst="rect">
                        <a:avLst/>
                      </a:prstGeom>
                      <a:noFill/>
                      <a:ln w="38100">
                        <a:noFill/>
                        <a:miter/>
                      </a:ln>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线程调度规则</a:t>
            </a:r>
            <a:endParaRPr lang="zh-CN" altLang="en-US"/>
          </a:p>
        </p:txBody>
      </p:sp>
      <p:sp>
        <p:nvSpPr>
          <p:cNvPr id="4" name="ïṥḻiḋè"/>
          <p:cNvSpPr txBox="1"/>
          <p:nvPr/>
        </p:nvSpPr>
        <p:spPr>
          <a:xfrm>
            <a:off x="1605915" y="1514475"/>
            <a:ext cx="6153785" cy="387350"/>
          </a:xfrm>
          <a:prstGeom prst="rect">
            <a:avLst/>
          </a:prstGeom>
        </p:spPr>
        <p:txBody>
          <a:bodyPr wrap="square" lIns="144000" tIns="0" rIns="0" bIns="0" anchor="t" anchorCtr="0">
            <a:noAutofit/>
          </a:bodyPr>
          <a:p>
            <a:pPr algn="l">
              <a:lnSpc>
                <a:spcPct val="120000"/>
              </a:lnSpc>
            </a:pPr>
            <a:r>
              <a:rPr lang="zh-CN" altLang="en-US" sz="2000" b="1" dirty="0">
                <a:solidFill>
                  <a:srgbClr val="C00000"/>
                </a:solidFill>
              </a:rPr>
              <a:t>优先级抢占调度</a:t>
            </a:r>
            <a:endParaRPr lang="zh-CN" altLang="en-US" sz="2000" b="1" dirty="0">
              <a:solidFill>
                <a:srgbClr val="C00000"/>
              </a:solidFill>
            </a:endParaRPr>
          </a:p>
          <a:p>
            <a:pPr algn="l">
              <a:lnSpc>
                <a:spcPct val="120000"/>
              </a:lnSpc>
            </a:pPr>
            <a:endParaRPr lang="zh-CN" altLang="en-US" sz="1200" dirty="0">
              <a:solidFill>
                <a:schemeClr val="accent1">
                  <a:lumMod val="75000"/>
                </a:schemeClr>
              </a:solidFill>
              <a:sym typeface="+mn-ea"/>
            </a:endParaRPr>
          </a:p>
          <a:p>
            <a:pPr marL="171450" indent="-171450" algn="l">
              <a:lnSpc>
                <a:spcPct val="120000"/>
              </a:lnSpc>
              <a:buFont typeface="Wingdings" panose="05000000000000000000" charset="0"/>
              <a:buChar char=""/>
            </a:pPr>
            <a:endParaRPr lang="zh-CN" altLang="en-US" sz="1200" dirty="0">
              <a:solidFill>
                <a:schemeClr val="accent1">
                  <a:lumMod val="75000"/>
                </a:schemeClr>
              </a:solidFill>
              <a:sym typeface="+mn-ea"/>
            </a:endParaRPr>
          </a:p>
        </p:txBody>
      </p:sp>
      <p:sp>
        <p:nvSpPr>
          <p:cNvPr id="3" name="ïṥḻiḋè"/>
          <p:cNvSpPr txBox="1"/>
          <p:nvPr/>
        </p:nvSpPr>
        <p:spPr>
          <a:xfrm>
            <a:off x="1605915" y="4181475"/>
            <a:ext cx="6153785" cy="387350"/>
          </a:xfrm>
          <a:prstGeom prst="rect">
            <a:avLst/>
          </a:prstGeom>
        </p:spPr>
        <p:txBody>
          <a:bodyPr wrap="square" lIns="144000" tIns="0" rIns="0" bIns="0" anchor="t" anchorCtr="0">
            <a:noAutofit/>
          </a:bodyPr>
          <a:p>
            <a:pPr algn="l">
              <a:lnSpc>
                <a:spcPct val="120000"/>
              </a:lnSpc>
            </a:pPr>
            <a:r>
              <a:rPr lang="zh-CN" altLang="en-US" sz="2000" b="1" dirty="0">
                <a:solidFill>
                  <a:srgbClr val="C00000"/>
                </a:solidFill>
              </a:rPr>
              <a:t>时间片轮询调度</a:t>
            </a:r>
            <a:endParaRPr lang="zh-CN" altLang="en-US" sz="1200" dirty="0">
              <a:solidFill>
                <a:schemeClr val="accent1">
                  <a:lumMod val="75000"/>
                </a:schemeClr>
              </a:solidFill>
              <a:sym typeface="+mn-ea"/>
            </a:endParaRPr>
          </a:p>
          <a:p>
            <a:pPr marL="171450" indent="-171450" algn="l">
              <a:lnSpc>
                <a:spcPct val="120000"/>
              </a:lnSpc>
              <a:buFont typeface="Wingdings" panose="05000000000000000000" charset="0"/>
              <a:buChar char=""/>
            </a:pPr>
            <a:endParaRPr lang="zh-CN" altLang="en-US" sz="1200" dirty="0">
              <a:solidFill>
                <a:schemeClr val="accent1">
                  <a:lumMod val="75000"/>
                </a:schemeClr>
              </a:solidFill>
              <a:sym typeface="+mn-ea"/>
            </a:endParaRPr>
          </a:p>
        </p:txBody>
      </p:sp>
      <p:sp>
        <p:nvSpPr>
          <p:cNvPr id="5" name="文本框 4"/>
          <p:cNvSpPr txBox="1"/>
          <p:nvPr/>
        </p:nvSpPr>
        <p:spPr>
          <a:xfrm>
            <a:off x="1716405" y="2205990"/>
            <a:ext cx="8771890" cy="1198880"/>
          </a:xfrm>
          <a:prstGeom prst="rect">
            <a:avLst/>
          </a:prstGeom>
          <a:noFill/>
        </p:spPr>
        <p:txBody>
          <a:bodyPr wrap="square" rtlCol="0">
            <a:spAutoFit/>
          </a:bodyPr>
          <a:p>
            <a:r>
              <a:rPr lang="en-US" altLang="zh-CN"/>
              <a:t>         </a:t>
            </a:r>
            <a:r>
              <a:rPr lang="zh-CN" altLang="en-US"/>
              <a:t>操作系统总是让具有最高优先级的就绪任务优先运行：即当有任务的优先级高于当前任务优先级并且处于就绪态后，就一定会发生任务调度</a:t>
            </a:r>
            <a:endParaRPr lang="zh-CN" altLang="en-US"/>
          </a:p>
          <a:p>
            <a:endParaRPr lang="zh-CN" altLang="en-US"/>
          </a:p>
          <a:p>
            <a:r>
              <a:rPr lang="zh-CN" altLang="en-US"/>
              <a:t>         通过优先级抢占机制，最大限度的满足了系统的实时性</a:t>
            </a:r>
            <a:endParaRPr lang="zh-CN" altLang="en-US"/>
          </a:p>
        </p:txBody>
      </p:sp>
      <p:sp>
        <p:nvSpPr>
          <p:cNvPr id="6" name="文本框 5"/>
          <p:cNvSpPr txBox="1"/>
          <p:nvPr/>
        </p:nvSpPr>
        <p:spPr>
          <a:xfrm>
            <a:off x="1716405" y="4900295"/>
            <a:ext cx="8771890" cy="1476375"/>
          </a:xfrm>
          <a:prstGeom prst="rect">
            <a:avLst/>
          </a:prstGeom>
          <a:noFill/>
        </p:spPr>
        <p:txBody>
          <a:bodyPr wrap="square" rtlCol="0">
            <a:spAutoFit/>
          </a:bodyPr>
          <a:p>
            <a:r>
              <a:rPr lang="en-US" altLang="zh-CN"/>
              <a:t>         </a:t>
            </a:r>
            <a:r>
              <a:rPr lang="zh-CN" altLang="en-US"/>
              <a:t>当操作系统中存在相同优先级的线程时（优先级相同就不会抢占），操作系统</a:t>
            </a:r>
            <a:r>
              <a:rPr lang="zh-CN"/>
              <a:t>会按照设置的时间片大小来轮流调度线程，时间片起到约束线程单次运行时长的作用，其单位是一个系统节拍（OS Tick）</a:t>
            </a:r>
            <a:endParaRPr lang="zh-CN"/>
          </a:p>
          <a:p>
            <a:endParaRPr lang="zh-CN" altLang="en-US"/>
          </a:p>
          <a:p>
            <a:r>
              <a:rPr lang="zh-CN" altLang="en-US"/>
              <a:t>         通过时间片轮询，保证优先级相同的任务能够轮流占有处理器</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Shape 543"/>
          <p:cNvSpPr txBox="1">
            <a:spLocks noGrp="1"/>
          </p:cNvSpPr>
          <p:nvPr>
            <p:ph type="body" idx="1"/>
          </p:nvPr>
        </p:nvSpPr>
        <p:spPr>
          <a:xfrm>
            <a:off x="1981200" y="2407192"/>
            <a:ext cx="8229600" cy="2043600"/>
          </a:xfrm>
          <a:prstGeom prst="rect">
            <a:avLst/>
          </a:prstGeom>
        </p:spPr>
        <p:txBody>
          <a:bodyPr vert="horz" lIns="91425" tIns="91425" rIns="91425" bIns="91425" rtlCol="0" anchor="ctr" anchorCtr="0">
            <a:noAutofit/>
          </a:bodyPr>
          <a:lstStyle/>
          <a:p>
            <a:r>
              <a:rPr lang="zh-CN" dirty="0"/>
              <a:t>时间片轮询调度示例</a:t>
            </a:r>
            <a:endParaRPr lang="zh-CN" dirty="0"/>
          </a:p>
        </p:txBody>
      </p:sp>
    </p:spTree>
  </p:cSld>
  <p:clrMapOvr>
    <a:masterClrMapping/>
  </p:clrMapOvr>
  <p:transition spd="slow">
    <p:cut/>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792</Words>
  <Application>WPS 演示</Application>
  <PresentationFormat>宽屏</PresentationFormat>
  <Paragraphs>44</Paragraphs>
  <Slides>5</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vt:i4>
      </vt:variant>
    </vt:vector>
  </HeadingPairs>
  <TitlesOfParts>
    <vt:vector size="16" baseType="lpstr">
      <vt:lpstr>Arial</vt:lpstr>
      <vt:lpstr>宋体</vt:lpstr>
      <vt:lpstr>Wingdings</vt:lpstr>
      <vt:lpstr>Arial Unicode MS</vt:lpstr>
      <vt:lpstr>Wingdings</vt:lpstr>
      <vt:lpstr>Calibri</vt:lpstr>
      <vt:lpstr>微软雅黑</vt:lpstr>
      <vt:lpstr>等线</vt:lpstr>
      <vt:lpstr>Times New Roman</vt:lpstr>
      <vt:lpstr>Custom Design</vt:lpstr>
      <vt:lpstr>Visio.Drawing.15</vt:lpstr>
      <vt:lpstr>RT-Thread入门系列视频教程</vt:lpstr>
      <vt:lpstr>线程优先级</vt:lpstr>
      <vt:lpstr>时间片</vt:lpstr>
      <vt:lpstr>线程调度规则</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pxxiong</dc:creator>
  <cp:lastModifiedBy>Yang___洁</cp:lastModifiedBy>
  <cp:revision>196</cp:revision>
  <dcterms:created xsi:type="dcterms:W3CDTF">2014-06-30T01:36:00Z</dcterms:created>
  <dcterms:modified xsi:type="dcterms:W3CDTF">2018-11-10T07:03:16Z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2052-10.1.0.7566</vt:lpwstr>
  </property>
</Properties>
</file>